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65" r:id="rId4"/>
    <p:sldId id="275" r:id="rId5"/>
    <p:sldId id="276" r:id="rId6"/>
    <p:sldId id="277" r:id="rId7"/>
    <p:sldId id="280" r:id="rId8"/>
    <p:sldId id="282" r:id="rId9"/>
    <p:sldId id="279" r:id="rId10"/>
    <p:sldId id="283" r:id="rId11"/>
    <p:sldId id="284" r:id="rId12"/>
    <p:sldId id="281" r:id="rId13"/>
    <p:sldId id="278" r:id="rId14"/>
    <p:sldId id="285" r:id="rId15"/>
    <p:sldId id="287" r:id="rId16"/>
    <p:sldId id="286" r:id="rId17"/>
    <p:sldId id="288" r:id="rId18"/>
    <p:sldId id="289" r:id="rId19"/>
    <p:sldId id="291" r:id="rId20"/>
    <p:sldId id="292" r:id="rId21"/>
    <p:sldId id="293" r:id="rId22"/>
    <p:sldId id="294" r:id="rId23"/>
    <p:sldId id="295" r:id="rId24"/>
    <p:sldId id="296" r:id="rId25"/>
    <p:sldId id="274" r:id="rId26"/>
  </p:sldIdLst>
  <p:sldSz cx="12192000" cy="6858000"/>
  <p:notesSz cx="6858000" cy="9144000"/>
  <p:custDataLst>
    <p:tags r:id="rId2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62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4885"/>
    <a:srgbClr val="20B3A1"/>
    <a:srgbClr val="D642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06799F8-075E-4A3A-A7F6-7FBC6576F1A4}" styleName="主题样式 2 - 强调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主题样式 2 - 强调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191" autoAdjust="0"/>
    <p:restoredTop sz="96314" autoAdjust="0"/>
  </p:normalViewPr>
  <p:slideViewPr>
    <p:cSldViewPr snapToGrid="0" showGuides="1">
      <p:cViewPr varScale="1">
        <p:scale>
          <a:sx n="138" d="100"/>
          <a:sy n="138" d="100"/>
        </p:scale>
        <p:origin x="132" y="648"/>
      </p:cViewPr>
      <p:guideLst>
        <p:guide orient="horz" pos="1162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notesViewPr>
    <p:cSldViewPr snapToGrid="0">
      <p:cViewPr varScale="1">
        <p:scale>
          <a:sx n="46" d="100"/>
          <a:sy n="46" d="100"/>
        </p:scale>
        <p:origin x="2652" y="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8B725A-BFDD-44D0-A8D3-61766B07B7F1}" type="datetimeFigureOut">
              <a:rPr lang="zh-CN" altLang="en-US" smtClean="0"/>
              <a:t>2025/5/19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BCC932-0C1F-4C94-8B9A-3944ABBB4E3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166B0-1021-B8DF-1D0E-24577D000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B04A117-5F00-32E1-6EC3-C3697FA8A6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EB9E6DD-06A3-24A9-A9CE-E74CFEB525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EAFE534-09F8-70A7-D1C9-5F5F29E99F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44362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C7E13-8930-7E0C-C647-7BAE687F6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6C66F4A-463C-9ECC-15EA-D9F5ABF397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8FA3E35-779F-FFE5-6311-3D9C5BB5E8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3CDC5D9-BBA2-0C1F-BC15-18EE73E62A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93980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9472A-56E5-A96A-5240-5541B3D12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79D45B3-A44B-7C73-C984-F1F6DA681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9C89D84-1C79-EDA3-79F5-7A9FAF965D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7BFE5C-5D82-EAA4-F163-B27FB13753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6898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34DDA-4BC1-C5DC-7D41-CA7B07CEA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DEE97F8-04BF-7D89-D205-DF7619D111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B7E2FDC-5134-4DEB-4735-426EBBAF53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D1CBDD-261B-9B32-6B79-625CDAF9DE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32299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3B10C-7850-574E-9109-6AE135DC4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6A0A739-9214-AC1C-A46B-63EA467183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89B5B58-80A0-8919-17EA-62C92FD2BE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2040171-33CA-92C1-6C15-8C4625DAEE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52291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110A5-5149-B93E-6775-8E4C2E633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4825D98-3725-7334-4B75-CE09E20CC7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B84881A-3466-484D-A868-A20706BA48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549DB64-249A-FB85-2A6C-EA0176D2EE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97346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795C8-90AC-9DC0-6776-BD6BF7BC6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A0B9DDB-B8C6-B974-37D9-157DA90E4E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98B4CD7-89F1-2CF6-B7C7-4C45168B6D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CA75C1A-A0A5-D18A-BBB1-5B60ED3F4D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59795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FB1E1-CC08-D8B8-F186-8DB76DD12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4F8F92D-AC62-31FD-0E8E-620DB023A0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8F4C093-297A-7857-C2DC-E38241A437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739107-8540-13E7-FA01-F5149750D9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17605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29F85-ED4A-BA77-1DC0-04EA1F663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A69AAD8-6480-0A47-140F-A01C799160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0B528D2-B1BA-B7CB-9715-046C871231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E83F0D5-B613-D734-CE8A-20871E0C0A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01293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DB133-0475-8B76-87FD-690C6EE9F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7AFB4DB-9E1B-C540-BC01-EF989452DE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D567D94-79AA-F76F-E2ED-38B797FE7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EB4EE1A-D101-35FF-CCFB-2C12B29BC9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69201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4537C-757F-3CC3-9A52-B2AD702A1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81FA7F1-9E48-D114-1C25-D8D4F95128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57657EC-7E42-9286-C2FC-2B9C0248F5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95221C-FDF0-9E52-4B3D-EC553564D8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88782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03BC5-AFCE-3405-A308-15D2240EB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C3A4168-C3B7-1EC0-2110-5CA7CEDAA2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733DA13-D09E-74DC-4024-3794BE9BCB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9907AEB-AAD3-92EB-14F5-EA68E8E213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86895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FC947-30F8-0B74-D538-3CAD8A2F5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8E264B9-904E-ECA6-B4AF-58814886FA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32787DB-3995-4D54-B173-AB10416340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484C8F5-0715-A708-1959-C437264828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47315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9713C-55E4-636C-7D8F-5E112A936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9BFDE5D-4F41-0F9F-FB08-3D99486180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BB9480A-4385-9FB0-7240-2D47A5F893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D81AFD8-B24C-F760-C422-E8D3B94B9D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922922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71B8C-61B2-267B-D5D1-C1BB47A2C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589D5F4-9A33-47EB-F774-41BC45EE5B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45124AA-8855-74B6-AD91-FFD79F416D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53EDB98-1252-941B-DABC-5A130B1BBC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019472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E35C8-EFD6-F166-C794-C30F42DE7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633D917-8325-5A21-CBDF-1E82D54343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F3D4EBC-5F42-D322-E6B9-C3B2CC15D4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43D54E0-4AD0-4C54-0DB7-C41C95EA03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16686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F8034-CB7D-A3FA-8F1A-68F6A3F22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ADB1C70-820C-6458-0A2B-26FFD4C181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C8A403F-F612-4339-33A9-AB72214EFC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DA0EE8D-5272-DCC7-952D-E763A3F113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84870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27ADC-CD81-5B1E-4520-652EA8FC1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810C678-2457-5F0C-13B4-59C3935A3A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9F173B4-62D8-62E9-17DC-72BBB4B85D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1FCBD50-0A97-7D7D-B1E4-14478D38D2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87720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E5701-E9F8-BF5D-9258-C9F2B6056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5C56511-600E-3690-DE78-ADD9802EDD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02B5D7F-DC32-C3C1-873F-EA6049F756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A36F78-BF0E-529A-141B-78211F084E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328150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63EFA-EF8A-EC68-2231-6BA2BD193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DC5BAB0-BC32-9F47-BD97-04E34289E2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C6E9930-43D6-8D2C-CAD9-7C661D6FCF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7B2C803-4368-0354-43B9-B1A99F88B7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92526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067E2-4783-E44C-E029-2D35727A2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C2A7511-D875-9AE2-57B7-8FAD832ABD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AA2F8CD-EED1-6691-49B8-E7C3AEAE7B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9B471C7-F8C8-11A7-A95E-8A73E11654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410898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  <a:t>25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6F278-ABF0-48CA-ADF0-1D43CCA8A181}" type="datetimeFigureOut">
              <a:rPr lang="zh-CN" altLang="en-US" smtClean="0"/>
              <a:t>2025/5/19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799FB-52B8-4698-BECF-01ADD9E846B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6F278-ABF0-48CA-ADF0-1D43CCA8A181}" type="datetimeFigureOut">
              <a:rPr lang="zh-CN" altLang="en-US" smtClean="0"/>
              <a:t>2025/5/19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799FB-52B8-4698-BECF-01ADD9E846B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6F278-ABF0-48CA-ADF0-1D43CCA8A181}" type="datetimeFigureOut">
              <a:rPr lang="zh-CN" altLang="en-US" smtClean="0"/>
              <a:t>2025/5/19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799FB-52B8-4698-BECF-01ADD9E846B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6F278-ABF0-48CA-ADF0-1D43CCA8A181}" type="datetimeFigureOut">
              <a:rPr lang="zh-CN" altLang="en-US" smtClean="0"/>
              <a:t>2025/5/19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799FB-52B8-4698-BECF-01ADD9E846B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>
          <a:xfrm>
            <a:off x="8325228" y="4544096"/>
            <a:ext cx="77513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   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素材：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图表：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精美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课件：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www.1ppt.com/kejian/           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www.1ppt.com/ziti/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工作总结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www.1ppt.com/xiazai/zongjie/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工作计划：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www.1ppt.com/xiazai/jihua/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商务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www.1ppt.com/moban/shangwu/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个人简历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www.1ppt.com/xiazai/jianli/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毕业答辩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www.1ppt.com/xiazai/dabian/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工作汇报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www.1ppt.com/xiazai/huibao/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6F278-ABF0-48CA-ADF0-1D43CCA8A181}" type="datetimeFigureOut">
              <a:rPr lang="zh-CN" altLang="en-US" smtClean="0"/>
              <a:t>2025/5/19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799FB-52B8-4698-BECF-01ADD9E846B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6F278-ABF0-48CA-ADF0-1D43CCA8A181}" type="datetimeFigureOut">
              <a:rPr lang="zh-CN" altLang="en-US" smtClean="0"/>
              <a:t>2025/5/19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799FB-52B8-4698-BECF-01ADD9E846B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6F278-ABF0-48CA-ADF0-1D43CCA8A181}" type="datetimeFigureOut">
              <a:rPr lang="zh-CN" altLang="en-US" smtClean="0"/>
              <a:t>2025/5/19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799FB-52B8-4698-BECF-01ADD9E846B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6F278-ABF0-48CA-ADF0-1D43CCA8A181}" type="datetimeFigureOut">
              <a:rPr lang="zh-CN" altLang="en-US" smtClean="0"/>
              <a:t>2025/5/19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799FB-52B8-4698-BECF-01ADD9E846B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6F278-ABF0-48CA-ADF0-1D43CCA8A181}" type="datetimeFigureOut">
              <a:rPr lang="zh-CN" altLang="en-US" smtClean="0"/>
              <a:t>2025/5/19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799FB-52B8-4698-BECF-01ADD9E846B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6F278-ABF0-48CA-ADF0-1D43CCA8A181}" type="datetimeFigureOut">
              <a:rPr lang="zh-CN" altLang="en-US" smtClean="0"/>
              <a:t>2025/5/19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799FB-52B8-4698-BECF-01ADD9E846B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6F278-ABF0-48CA-ADF0-1D43CCA8A181}" type="datetimeFigureOut">
              <a:rPr lang="zh-CN" altLang="en-US" smtClean="0"/>
              <a:t>2025/5/19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799FB-52B8-4698-BECF-01ADD9E846B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F6F278-ABF0-48CA-ADF0-1D43CCA8A181}" type="datetimeFigureOut">
              <a:rPr lang="zh-CN" altLang="en-US" smtClean="0"/>
              <a:t>2025/5/19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6799FB-52B8-4698-BECF-01ADD9E846B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wnloads.apache.org/flink/flink-kubernetes-operator-1.11.0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9984658" y="4866967"/>
            <a:ext cx="1961536" cy="1696064"/>
          </a:xfrm>
          <a:prstGeom prst="rect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45805" y="294968"/>
            <a:ext cx="1961536" cy="1696064"/>
          </a:xfrm>
          <a:prstGeom prst="rect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45805" y="4866967"/>
            <a:ext cx="1961536" cy="1696064"/>
          </a:xfrm>
          <a:prstGeom prst="rect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9984658" y="294968"/>
            <a:ext cx="1961536" cy="1696064"/>
          </a:xfrm>
          <a:prstGeom prst="rect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403122" y="294968"/>
            <a:ext cx="11385755" cy="5958349"/>
          </a:xfrm>
          <a:prstGeom prst="roundRect">
            <a:avLst>
              <a:gd name="adj" fmla="val 1568"/>
            </a:avLst>
          </a:prstGeom>
          <a:solidFill>
            <a:schemeClr val="bg1"/>
          </a:solidFill>
          <a:ln>
            <a:noFill/>
          </a:ln>
          <a:effectLst>
            <a:glow rad="228600">
              <a:schemeClr val="tx1">
                <a:alpha val="3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261235" y="2592070"/>
            <a:ext cx="790829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>
                <a:solidFill>
                  <a:srgbClr val="1C4885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基于</a:t>
            </a:r>
            <a:r>
              <a:rPr lang="en-US" altLang="zh-CN" sz="5400" b="1" dirty="0">
                <a:solidFill>
                  <a:srgbClr val="1C4885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k8s</a:t>
            </a:r>
            <a:r>
              <a:rPr lang="zh-CN" altLang="en-US" sz="5400" b="1" dirty="0">
                <a:solidFill>
                  <a:srgbClr val="1C4885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的</a:t>
            </a:r>
            <a:r>
              <a:rPr lang="en-US" altLang="zh-CN" sz="5400" b="1" dirty="0">
                <a:solidFill>
                  <a:srgbClr val="1C4885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Flink SQL</a:t>
            </a:r>
            <a:r>
              <a:rPr lang="zh-CN" altLang="en-US" sz="5400" b="1" dirty="0">
                <a:solidFill>
                  <a:srgbClr val="1C4885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大规模数据相似度计算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4424713" y="4653525"/>
            <a:ext cx="30423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汇报人：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22121630 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汪江豪</a:t>
            </a:r>
            <a:endParaRPr lang="en-US" altLang="zh-CN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  <a:p>
            <a:pPr algn="r"/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22120721 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阮金桐</a:t>
            </a:r>
          </a:p>
        </p:txBody>
      </p:sp>
      <p:pic>
        <p:nvPicPr>
          <p:cNvPr id="2" name="图片 1" descr="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675" y="880745"/>
            <a:ext cx="2645410" cy="11093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988709" y="5737122"/>
            <a:ext cx="3957485" cy="825909"/>
          </a:xfrm>
          <a:prstGeom prst="rect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45804" y="294968"/>
            <a:ext cx="3957485" cy="825909"/>
          </a:xfrm>
          <a:prstGeom prst="rect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403122" y="449825"/>
            <a:ext cx="11385755" cy="5958349"/>
          </a:xfrm>
          <a:prstGeom prst="roundRect">
            <a:avLst>
              <a:gd name="adj" fmla="val 1568"/>
            </a:avLst>
          </a:prstGeom>
          <a:solidFill>
            <a:schemeClr val="bg1"/>
          </a:solidFill>
          <a:ln>
            <a:noFill/>
          </a:ln>
          <a:effectLst>
            <a:glow rad="228600">
              <a:schemeClr val="tx1">
                <a:alpha val="3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908282" y="1533116"/>
            <a:ext cx="23259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4800" dirty="0">
                <a:solidFill>
                  <a:srgbClr val="1C4885"/>
                </a:solidFill>
                <a:cs typeface="+mn-ea"/>
                <a:sym typeface="+mn-lt"/>
              </a:rPr>
              <a:t>目录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908283" y="1152768"/>
            <a:ext cx="23259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2000" dirty="0">
                <a:solidFill>
                  <a:srgbClr val="1C4885"/>
                </a:solidFill>
                <a:cs typeface="+mn-ea"/>
                <a:sym typeface="+mn-lt"/>
              </a:rPr>
              <a:t>CONTENT</a:t>
            </a:r>
            <a:endParaRPr lang="zh-CN" altLang="en-US" sz="2000" dirty="0">
              <a:solidFill>
                <a:srgbClr val="1C4885"/>
              </a:solidFill>
              <a:cs typeface="+mn-ea"/>
              <a:sym typeface="+mn-lt"/>
            </a:endParaRP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A43DDB47-DE73-40B4-E1DE-B15513DDCF8B}"/>
              </a:ext>
            </a:extLst>
          </p:cNvPr>
          <p:cNvGrpSpPr/>
          <p:nvPr/>
        </p:nvGrpSpPr>
        <p:grpSpPr>
          <a:xfrm>
            <a:off x="3578333" y="2557205"/>
            <a:ext cx="3876567" cy="651111"/>
            <a:chOff x="1908283" y="3105175"/>
            <a:chExt cx="3876567" cy="651111"/>
          </a:xfrm>
        </p:grpSpPr>
        <p:sp>
          <p:nvSpPr>
            <p:cNvPr id="9" name="椭圆 8"/>
            <p:cNvSpPr/>
            <p:nvPr/>
          </p:nvSpPr>
          <p:spPr>
            <a:xfrm>
              <a:off x="1908283" y="3112512"/>
              <a:ext cx="643774" cy="643774"/>
            </a:xfrm>
            <a:prstGeom prst="ellipse">
              <a:avLst/>
            </a:prstGeom>
            <a:solidFill>
              <a:srgbClr val="1C48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bg1"/>
                  </a:solidFill>
                  <a:cs typeface="+mn-ea"/>
                  <a:sym typeface="+mn-lt"/>
                </a:rPr>
                <a:t>01</a:t>
              </a:r>
              <a:endParaRPr lang="zh-CN" altLang="en-US" sz="12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2672779" y="3105175"/>
              <a:ext cx="31120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2400" dirty="0">
                  <a:solidFill>
                    <a:srgbClr val="1C4885"/>
                  </a:solidFill>
                  <a:cs typeface="+mn-ea"/>
                  <a:sym typeface="+mn-lt"/>
                </a:rPr>
                <a:t>Flink</a:t>
              </a:r>
              <a:r>
                <a:rPr lang="zh-CN" altLang="en-US" sz="2400" dirty="0">
                  <a:solidFill>
                    <a:srgbClr val="1C4885"/>
                  </a:solidFill>
                  <a:cs typeface="+mn-ea"/>
                  <a:sym typeface="+mn-lt"/>
                </a:rPr>
                <a:t>多节点部署方式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DA5AFF4F-F177-A136-6B10-DAAAFA75857B}"/>
              </a:ext>
            </a:extLst>
          </p:cNvPr>
          <p:cNvGrpSpPr/>
          <p:nvPr/>
        </p:nvGrpSpPr>
        <p:grpSpPr>
          <a:xfrm>
            <a:off x="3608610" y="3528014"/>
            <a:ext cx="2248605" cy="651111"/>
            <a:chOff x="6495346" y="3105175"/>
            <a:chExt cx="2248605" cy="651111"/>
          </a:xfrm>
        </p:grpSpPr>
        <p:sp>
          <p:nvSpPr>
            <p:cNvPr id="12" name="椭圆 11"/>
            <p:cNvSpPr/>
            <p:nvPr/>
          </p:nvSpPr>
          <p:spPr>
            <a:xfrm>
              <a:off x="6495346" y="3112512"/>
              <a:ext cx="643774" cy="643774"/>
            </a:xfrm>
            <a:prstGeom prst="ellipse">
              <a:avLst/>
            </a:prstGeom>
            <a:solidFill>
              <a:srgbClr val="1C48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bg1"/>
                  </a:solidFill>
                  <a:cs typeface="+mn-ea"/>
                  <a:sym typeface="+mn-lt"/>
                </a:rPr>
                <a:t>02</a:t>
              </a:r>
              <a:endParaRPr lang="zh-CN" altLang="en-US" sz="12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7259843" y="3105175"/>
              <a:ext cx="14841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400" dirty="0">
                  <a:solidFill>
                    <a:srgbClr val="1C4885"/>
                  </a:solidFill>
                  <a:cs typeface="+mn-ea"/>
                  <a:sym typeface="+mn-lt"/>
                </a:rPr>
                <a:t>解法思路</a:t>
              </a: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6D4F23C8-C4CF-8235-ECA2-43E4DF82525D}"/>
              </a:ext>
            </a:extLst>
          </p:cNvPr>
          <p:cNvGrpSpPr/>
          <p:nvPr/>
        </p:nvGrpSpPr>
        <p:grpSpPr>
          <a:xfrm>
            <a:off x="3608610" y="4466555"/>
            <a:ext cx="2355773" cy="651111"/>
            <a:chOff x="1908283" y="4347913"/>
            <a:chExt cx="2355773" cy="651111"/>
          </a:xfrm>
        </p:grpSpPr>
        <p:sp>
          <p:nvSpPr>
            <p:cNvPr id="15" name="椭圆 14"/>
            <p:cNvSpPr/>
            <p:nvPr/>
          </p:nvSpPr>
          <p:spPr>
            <a:xfrm>
              <a:off x="1908283" y="4355250"/>
              <a:ext cx="643774" cy="643774"/>
            </a:xfrm>
            <a:prstGeom prst="ellipse">
              <a:avLst/>
            </a:prstGeom>
            <a:solidFill>
              <a:srgbClr val="1C48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bg1"/>
                  </a:solidFill>
                  <a:cs typeface="+mn-ea"/>
                  <a:sym typeface="+mn-lt"/>
                </a:rPr>
                <a:t>03</a:t>
              </a:r>
              <a:endParaRPr lang="zh-CN" altLang="en-US" sz="12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2672780" y="4347913"/>
              <a:ext cx="159127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400" dirty="0">
                  <a:solidFill>
                    <a:srgbClr val="1C4885"/>
                  </a:solidFill>
                  <a:cs typeface="+mn-ea"/>
                  <a:sym typeface="+mn-lt"/>
                </a:rPr>
                <a:t>问题处理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/>
        </p:nvCxnSpPr>
        <p:spPr>
          <a:xfrm>
            <a:off x="1362333" y="3112251"/>
            <a:ext cx="616308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 descr="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7165" y="294005"/>
            <a:ext cx="1524635" cy="639445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70B63503-F55B-8210-6BF8-1AE83A354E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6446" y="4025514"/>
            <a:ext cx="5420490" cy="2265367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7B7627ED-EAE3-0400-30E3-5BACACECE78D}"/>
              </a:ext>
            </a:extLst>
          </p:cNvPr>
          <p:cNvSpPr txBox="1"/>
          <p:nvPr/>
        </p:nvSpPr>
        <p:spPr>
          <a:xfrm>
            <a:off x="2881868" y="2281254"/>
            <a:ext cx="64282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4800" dirty="0">
                <a:solidFill>
                  <a:srgbClr val="1C4885"/>
                </a:solidFill>
                <a:cs typeface="+mn-ea"/>
                <a:sym typeface="+mn-lt"/>
              </a:rPr>
              <a:t>1.Flink</a:t>
            </a:r>
            <a:r>
              <a:rPr lang="zh-CN" altLang="en-US" sz="4800" dirty="0">
                <a:solidFill>
                  <a:srgbClr val="1C4885"/>
                </a:solidFill>
                <a:cs typeface="+mn-ea"/>
                <a:sym typeface="+mn-lt"/>
              </a:rPr>
              <a:t>多节点部署方式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17548-6AC8-5977-0422-1D7F46E87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0DAC7A6A-140F-F8CE-0AA6-A174B45636DC}"/>
              </a:ext>
            </a:extLst>
          </p:cNvPr>
          <p:cNvCxnSpPr/>
          <p:nvPr/>
        </p:nvCxnSpPr>
        <p:spPr>
          <a:xfrm>
            <a:off x="1362333" y="3112251"/>
            <a:ext cx="616308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 descr="logo">
            <a:extLst>
              <a:ext uri="{FF2B5EF4-FFF2-40B4-BE49-F238E27FC236}">
                <a16:creationId xmlns:a16="http://schemas.microsoft.com/office/drawing/2014/main" id="{E01E2DE4-2225-0200-1ADA-307EB053F8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7165" y="294005"/>
            <a:ext cx="1524635" cy="639445"/>
          </a:xfrm>
          <a:prstGeom prst="rect">
            <a:avLst/>
          </a:prstGeom>
        </p:spPr>
      </p:pic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98715148-8A1B-BAF6-74F9-E3D8BC9ACD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4340264"/>
              </p:ext>
            </p:extLst>
          </p:nvPr>
        </p:nvGraphicFramePr>
        <p:xfrm>
          <a:off x="297815" y="909319"/>
          <a:ext cx="4378325" cy="503936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4378325">
                  <a:extLst>
                    <a:ext uri="{9D8B030D-6E8A-4147-A177-3AD203B41FA5}">
                      <a16:colId xmlns:a16="http://schemas.microsoft.com/office/drawing/2014/main" val="307906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传统集群方式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89815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/>
                        <a:t>设置</a:t>
                      </a:r>
                      <a:r>
                        <a:rPr lang="en-US" altLang="zh-CN" dirty="0"/>
                        <a:t>ssh</a:t>
                      </a:r>
                      <a:r>
                        <a:rPr lang="zh-CN" altLang="en-US" dirty="0"/>
                        <a:t>无密码互联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94611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/>
                        <a:t>修改</a:t>
                      </a:r>
                      <a:r>
                        <a:rPr lang="en-US" altLang="zh-CN" dirty="0" err="1"/>
                        <a:t>flink</a:t>
                      </a:r>
                      <a:r>
                        <a:rPr lang="en-US" altLang="zh-CN" dirty="0"/>
                        <a:t>/conf/</a:t>
                      </a:r>
                      <a:r>
                        <a:rPr lang="en-US" altLang="zh-CN" dirty="0" err="1"/>
                        <a:t>flink-conf.yaml</a:t>
                      </a:r>
                      <a:r>
                        <a:rPr lang="zh-CN" altLang="en-US" dirty="0"/>
                        <a:t>文件：</a:t>
                      </a:r>
                      <a:endParaRPr lang="en-US" altLang="zh-CN" dirty="0"/>
                    </a:p>
                    <a:p>
                      <a:pPr algn="l"/>
                      <a:r>
                        <a:rPr lang="en-US" altLang="zh-CN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obmanager.rpc.address</a:t>
                      </a:r>
                      <a:r>
                        <a:rPr lang="en-US" altLang="zh-C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master</a:t>
                      </a:r>
                    </a:p>
                    <a:p>
                      <a:pPr algn="l"/>
                      <a:r>
                        <a:rPr lang="en-US" altLang="zh-CN" dirty="0" err="1"/>
                        <a:t>taskmanager.numberOfTaskSlots</a:t>
                      </a:r>
                      <a:r>
                        <a:rPr lang="en-US" altLang="zh-CN" dirty="0"/>
                        <a:t>: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70251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/>
                        <a:t>修改</a:t>
                      </a:r>
                      <a:r>
                        <a:rPr lang="en-US" altLang="zh-CN" dirty="0"/>
                        <a:t>conf</a:t>
                      </a:r>
                      <a:r>
                        <a:rPr lang="zh-CN" altLang="en-US" dirty="0"/>
                        <a:t>目录下</a:t>
                      </a:r>
                      <a:r>
                        <a:rPr lang="en-US" altLang="zh-CN" dirty="0"/>
                        <a:t>master</a:t>
                      </a:r>
                      <a:r>
                        <a:rPr lang="zh-CN" altLang="en-US" dirty="0"/>
                        <a:t>文件为</a:t>
                      </a:r>
                      <a:r>
                        <a:rPr lang="en-US" altLang="zh-CN" dirty="0"/>
                        <a:t>master:8081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28388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/>
                        <a:t>修改</a:t>
                      </a:r>
                      <a:r>
                        <a:rPr lang="en-US" altLang="zh-CN" dirty="0"/>
                        <a:t>conf</a:t>
                      </a:r>
                      <a:r>
                        <a:rPr lang="zh-CN" altLang="en-US" dirty="0"/>
                        <a:t>目录下</a:t>
                      </a:r>
                      <a:r>
                        <a:rPr lang="en-US" altLang="zh-CN" dirty="0"/>
                        <a:t>worker</a:t>
                      </a:r>
                      <a:r>
                        <a:rPr lang="zh-CN" altLang="en-US" dirty="0"/>
                        <a:t>文件为</a:t>
                      </a:r>
                      <a:r>
                        <a:rPr lang="en-US" altLang="zh-CN" dirty="0"/>
                        <a:t>:</a:t>
                      </a:r>
                    </a:p>
                    <a:p>
                      <a:pPr algn="l"/>
                      <a:r>
                        <a:rPr lang="en-US" altLang="zh-CN" dirty="0"/>
                        <a:t>slave1</a:t>
                      </a:r>
                    </a:p>
                    <a:p>
                      <a:pPr algn="l"/>
                      <a:r>
                        <a:rPr lang="en-US" altLang="zh-CN" dirty="0"/>
                        <a:t>slave2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7793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/>
                        <a:t>slave1,slave2</a:t>
                      </a:r>
                      <a:r>
                        <a:rPr lang="zh-CN" altLang="en-US" dirty="0"/>
                        <a:t>节点上设置同理</a:t>
                      </a:r>
                      <a:endParaRPr lang="en-US" altLang="zh-CN" dirty="0"/>
                    </a:p>
                    <a:p>
                      <a:pPr algn="l"/>
                      <a:r>
                        <a:rPr lang="zh-CN" altLang="en-US" dirty="0"/>
                        <a:t>额外修改</a:t>
                      </a:r>
                      <a:r>
                        <a:rPr lang="en-US" altLang="zh-CN" dirty="0" err="1"/>
                        <a:t>flink-conf.yaml</a:t>
                      </a:r>
                      <a:r>
                        <a:rPr lang="zh-CN" altLang="en-US" dirty="0"/>
                        <a:t>文件中的</a:t>
                      </a:r>
                      <a:endParaRPr lang="en-US" altLang="zh-CN" dirty="0"/>
                    </a:p>
                    <a:p>
                      <a:pPr algn="l"/>
                      <a:r>
                        <a:rPr lang="en-US" altLang="zh-CN" dirty="0"/>
                        <a:t>taskmanager.host:slave1/slave2</a:t>
                      </a:r>
                    </a:p>
                    <a:p>
                      <a:pPr algn="l"/>
                      <a:r>
                        <a:rPr lang="zh-CN" altLang="en-US" dirty="0"/>
                        <a:t>为自己主机名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0746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/>
                        <a:t>在</a:t>
                      </a:r>
                      <a:r>
                        <a:rPr lang="en-US" altLang="zh-CN" dirty="0"/>
                        <a:t>master</a:t>
                      </a:r>
                      <a:r>
                        <a:rPr lang="zh-CN" altLang="en-US" dirty="0"/>
                        <a:t>节点运行</a:t>
                      </a:r>
                      <a:r>
                        <a:rPr lang="en-US" altLang="zh-CN" dirty="0"/>
                        <a:t>start-cluster.sh</a:t>
                      </a:r>
                      <a:r>
                        <a:rPr lang="zh-CN" altLang="en-US" dirty="0"/>
                        <a:t>，提交</a:t>
                      </a:r>
                      <a:r>
                        <a:rPr lang="en-US" altLang="zh-CN" dirty="0"/>
                        <a:t>jar</a:t>
                      </a:r>
                      <a:r>
                        <a:rPr lang="zh-CN" altLang="en-US" dirty="0"/>
                        <a:t>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311144"/>
                  </a:ext>
                </a:extLst>
              </a:tr>
            </a:tbl>
          </a:graphicData>
        </a:graphic>
      </p:graphicFrame>
      <p:pic>
        <p:nvPicPr>
          <p:cNvPr id="9" name="图片 8">
            <a:extLst>
              <a:ext uri="{FF2B5EF4-FFF2-40B4-BE49-F238E27FC236}">
                <a16:creationId xmlns:a16="http://schemas.microsoft.com/office/drawing/2014/main" id="{46B5F766-4C3D-D906-C254-D07EFBE5B5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2175736"/>
            <a:ext cx="6781800" cy="269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813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22185-B7F3-F7D6-DC64-671393B5D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5C3CC4E9-956D-DA62-8708-41DA75E331A9}"/>
              </a:ext>
            </a:extLst>
          </p:cNvPr>
          <p:cNvCxnSpPr/>
          <p:nvPr/>
        </p:nvCxnSpPr>
        <p:spPr>
          <a:xfrm>
            <a:off x="1305183" y="3194801"/>
            <a:ext cx="616308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 descr="logo">
            <a:extLst>
              <a:ext uri="{FF2B5EF4-FFF2-40B4-BE49-F238E27FC236}">
                <a16:creationId xmlns:a16="http://schemas.microsoft.com/office/drawing/2014/main" id="{499773C9-BEEB-C6AC-CD44-977ED107FD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7165" y="294005"/>
            <a:ext cx="1524635" cy="63944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899AE8AD-47EF-21E9-4B23-79590A177F6F}"/>
              </a:ext>
            </a:extLst>
          </p:cNvPr>
          <p:cNvSpPr txBox="1"/>
          <p:nvPr/>
        </p:nvSpPr>
        <p:spPr>
          <a:xfrm>
            <a:off x="330200" y="181515"/>
            <a:ext cx="15912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依赖项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5DA2FBB3-BFDD-C163-6D55-017EBC016159}"/>
              </a:ext>
            </a:extLst>
          </p:cNvPr>
          <p:cNvCxnSpPr/>
          <p:nvPr/>
        </p:nvCxnSpPr>
        <p:spPr>
          <a:xfrm>
            <a:off x="221965" y="127003"/>
            <a:ext cx="0" cy="632244"/>
          </a:xfrm>
          <a:prstGeom prst="line">
            <a:avLst/>
          </a:prstGeom>
          <a:ln w="76200">
            <a:solidFill>
              <a:srgbClr val="1C48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>
            <a:extLst>
              <a:ext uri="{FF2B5EF4-FFF2-40B4-BE49-F238E27FC236}">
                <a16:creationId xmlns:a16="http://schemas.microsoft.com/office/drawing/2014/main" id="{165E453E-C787-C32C-67F2-0111373307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7100" y="800100"/>
            <a:ext cx="7413745" cy="2628900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FEB7BCC3-1AC8-F317-2C7B-310CF15BE2E9}"/>
              </a:ext>
            </a:extLst>
          </p:cNvPr>
          <p:cNvSpPr txBox="1"/>
          <p:nvPr/>
        </p:nvSpPr>
        <p:spPr>
          <a:xfrm>
            <a:off x="2838165" y="3737199"/>
            <a:ext cx="6032786" cy="160043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K8s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是容器编排平台，用于自动化部署、扩展和管理容器化应用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Flink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中的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jobmanager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和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taskmanager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作为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pod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运行在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k8s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集群中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Docker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是容器化工具，可将应用及其依赖打包成轻量级、可移植容器镜像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Helm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是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k8s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的包管理工具，类似于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linux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的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apt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18333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90C52-E205-F659-BB0C-B7DBC98BA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6D227DD6-4CB9-CEAC-497C-211C2662F043}"/>
              </a:ext>
            </a:extLst>
          </p:cNvPr>
          <p:cNvCxnSpPr/>
          <p:nvPr/>
        </p:nvCxnSpPr>
        <p:spPr>
          <a:xfrm>
            <a:off x="1362333" y="3112251"/>
            <a:ext cx="616308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 descr="logo">
            <a:extLst>
              <a:ext uri="{FF2B5EF4-FFF2-40B4-BE49-F238E27FC236}">
                <a16:creationId xmlns:a16="http://schemas.microsoft.com/office/drawing/2014/main" id="{914F3BC8-2E42-5342-1AB7-E2C47BA44E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7165" y="294005"/>
            <a:ext cx="1524635" cy="639445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985ECBEB-D48D-B9E9-D0D9-F761476780A8}"/>
              </a:ext>
            </a:extLst>
          </p:cNvPr>
          <p:cNvSpPr txBox="1"/>
          <p:nvPr/>
        </p:nvSpPr>
        <p:spPr>
          <a:xfrm>
            <a:off x="577532" y="829627"/>
            <a:ext cx="8668068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启动</a:t>
            </a:r>
            <a:r>
              <a:rPr lang="en-US" altLang="zh-CN" sz="1600" dirty="0"/>
              <a:t>k8s</a:t>
            </a:r>
            <a:r>
              <a:rPr lang="zh-CN" altLang="en-US" sz="1600" dirty="0"/>
              <a:t>集群，节点加入集群</a:t>
            </a:r>
            <a:endParaRPr lang="en-US" altLang="zh-CN" sz="1600" dirty="0"/>
          </a:p>
          <a:p>
            <a:endParaRPr lang="en-US" altLang="zh-CN" sz="1600" dirty="0"/>
          </a:p>
          <a:p>
            <a:r>
              <a:rPr lang="zh-CN" altLang="en-US" sz="1600" dirty="0"/>
              <a:t>下载证书管理器</a:t>
            </a:r>
            <a:endParaRPr lang="en-US" altLang="zh-CN" sz="1600" dirty="0"/>
          </a:p>
          <a:p>
            <a:r>
              <a:rPr lang="en-US" altLang="zh-CN" sz="1600" dirty="0" err="1"/>
              <a:t>kubectl</a:t>
            </a:r>
            <a:r>
              <a:rPr lang="en-US" altLang="zh-CN" sz="1600" dirty="0"/>
              <a:t> create -f https://github.com/jetstack/cert-manager/releases/download/v1.8.2/cert-manager.yaml</a:t>
            </a:r>
          </a:p>
          <a:p>
            <a:endParaRPr lang="en-US" altLang="zh-CN" sz="1600" dirty="0"/>
          </a:p>
          <a:p>
            <a:endParaRPr lang="en-US" altLang="zh-CN" sz="1600" dirty="0"/>
          </a:p>
          <a:p>
            <a:r>
              <a:rPr lang="zh-CN" altLang="en-US" sz="1600" dirty="0"/>
              <a:t>添加软件源</a:t>
            </a:r>
            <a:endParaRPr lang="en-US" altLang="zh-CN" sz="1600" dirty="0"/>
          </a:p>
          <a:p>
            <a:r>
              <a:rPr lang="en-US" altLang="zh-CN" sz="1600" dirty="0"/>
              <a:t>helm repo add </a:t>
            </a:r>
            <a:r>
              <a:rPr lang="en-US" altLang="zh-CN" sz="1600" dirty="0" err="1"/>
              <a:t>flink</a:t>
            </a:r>
            <a:r>
              <a:rPr lang="en-US" altLang="zh-CN" sz="1600" dirty="0"/>
              <a:t>-operator-repo </a:t>
            </a:r>
            <a:r>
              <a:rPr lang="en-US" altLang="zh-CN" sz="1600" dirty="0">
                <a:hlinkClick r:id="rId4"/>
              </a:rPr>
              <a:t>https://downloads.apache.org/flink/flink-kubernetes-operator-1.11.0/</a:t>
            </a:r>
            <a:endParaRPr lang="en-US" altLang="zh-CN" sz="1600" dirty="0"/>
          </a:p>
          <a:p>
            <a:endParaRPr lang="en-US" altLang="zh-CN" sz="1600" dirty="0"/>
          </a:p>
          <a:p>
            <a:r>
              <a:rPr lang="zh-CN" altLang="en-US" sz="1600" dirty="0"/>
              <a:t>安装</a:t>
            </a:r>
            <a:r>
              <a:rPr lang="en-US" altLang="zh-CN" sz="1600" dirty="0" err="1"/>
              <a:t>flink</a:t>
            </a:r>
            <a:r>
              <a:rPr lang="zh-CN" altLang="en-US" sz="1600" dirty="0"/>
              <a:t>的</a:t>
            </a:r>
            <a:r>
              <a:rPr lang="en-US" altLang="zh-CN" sz="1600" dirty="0"/>
              <a:t>k8s</a:t>
            </a:r>
            <a:r>
              <a:rPr lang="zh-CN" altLang="en-US" sz="1600" dirty="0"/>
              <a:t>管理工具</a:t>
            </a:r>
            <a:endParaRPr lang="en-US" altLang="zh-CN" sz="1600" dirty="0"/>
          </a:p>
          <a:p>
            <a:r>
              <a:rPr lang="en-US" altLang="zh-CN" sz="1600" dirty="0"/>
              <a:t>helm install </a:t>
            </a:r>
            <a:r>
              <a:rPr lang="en-US" altLang="zh-CN" sz="1600" dirty="0" err="1"/>
              <a:t>flink</a:t>
            </a:r>
            <a:r>
              <a:rPr lang="en-US" altLang="zh-CN" sz="1600" dirty="0"/>
              <a:t>-</a:t>
            </a:r>
            <a:r>
              <a:rPr lang="en-US" altLang="zh-CN" sz="1600" dirty="0" err="1"/>
              <a:t>kubernetes</a:t>
            </a:r>
            <a:r>
              <a:rPr lang="en-US" altLang="zh-CN" sz="1600" dirty="0"/>
              <a:t>-operator </a:t>
            </a:r>
            <a:r>
              <a:rPr lang="en-US" altLang="zh-CN" sz="1600" dirty="0" err="1"/>
              <a:t>flink</a:t>
            </a:r>
            <a:r>
              <a:rPr lang="en-US" altLang="zh-CN" sz="1600" dirty="0"/>
              <a:t>-operator-repo/</a:t>
            </a:r>
            <a:r>
              <a:rPr lang="en-US" altLang="zh-CN" sz="1600" dirty="0" err="1"/>
              <a:t>flink</a:t>
            </a:r>
            <a:r>
              <a:rPr lang="en-US" altLang="zh-CN" sz="1600" dirty="0"/>
              <a:t>-</a:t>
            </a:r>
            <a:r>
              <a:rPr lang="en-US" altLang="zh-CN" sz="1600" dirty="0" err="1"/>
              <a:t>kubernetes</a:t>
            </a:r>
            <a:r>
              <a:rPr lang="en-US" altLang="zh-CN" sz="1600" dirty="0"/>
              <a:t>-operator</a:t>
            </a:r>
          </a:p>
          <a:p>
            <a:endParaRPr lang="en-US" altLang="zh-CN" sz="1600" dirty="0"/>
          </a:p>
          <a:p>
            <a:r>
              <a:rPr lang="zh-CN" altLang="en-US" sz="1600" dirty="0"/>
              <a:t>安装后</a:t>
            </a:r>
            <a:r>
              <a:rPr lang="en-US" altLang="zh-CN" sz="1600" dirty="0"/>
              <a:t>operator</a:t>
            </a:r>
            <a:r>
              <a:rPr lang="zh-CN" altLang="en-US" sz="1600" dirty="0"/>
              <a:t>作为</a:t>
            </a:r>
            <a:r>
              <a:rPr lang="en-US" altLang="zh-CN" sz="1600" dirty="0"/>
              <a:t>pod</a:t>
            </a:r>
            <a:r>
              <a:rPr lang="zh-CN" altLang="en-US" sz="1600" dirty="0"/>
              <a:t>保持运行，看到</a:t>
            </a:r>
            <a:r>
              <a:rPr lang="en-US" altLang="zh-CN" sz="1600" dirty="0"/>
              <a:t>running</a:t>
            </a:r>
            <a:r>
              <a:rPr lang="zh-CN" altLang="en-US" sz="1600" dirty="0"/>
              <a:t>说明安装成功</a:t>
            </a:r>
            <a:endParaRPr lang="en-US" altLang="zh-CN" sz="1600" dirty="0"/>
          </a:p>
          <a:p>
            <a:r>
              <a:rPr lang="en-US" altLang="zh-CN" sz="1600" dirty="0" err="1"/>
              <a:t>kubectl</a:t>
            </a:r>
            <a:r>
              <a:rPr lang="en-US" altLang="zh-CN" sz="1600" dirty="0"/>
              <a:t> get pods</a:t>
            </a:r>
          </a:p>
          <a:p>
            <a:endParaRPr lang="en-US" altLang="zh-CN" sz="1600" dirty="0"/>
          </a:p>
          <a:p>
            <a:r>
              <a:rPr lang="zh-CN" altLang="en-US" sz="1600" dirty="0"/>
              <a:t>随后可通过</a:t>
            </a:r>
            <a:r>
              <a:rPr lang="en-US" altLang="zh-CN" sz="1600" dirty="0" err="1"/>
              <a:t>yaml</a:t>
            </a:r>
            <a:r>
              <a:rPr lang="zh-CN" altLang="en-US" sz="1600" dirty="0"/>
              <a:t>文件提交</a:t>
            </a:r>
            <a:r>
              <a:rPr lang="en-US" altLang="zh-CN" sz="1600" dirty="0" err="1"/>
              <a:t>flink</a:t>
            </a:r>
            <a:r>
              <a:rPr lang="zh-CN" altLang="en-US" sz="1600" dirty="0"/>
              <a:t>作业</a:t>
            </a:r>
            <a:endParaRPr lang="en-US" altLang="zh-CN" sz="1600" dirty="0"/>
          </a:p>
          <a:p>
            <a:r>
              <a:rPr lang="en-US" altLang="zh-CN" sz="1600" dirty="0" err="1"/>
              <a:t>Kubectl</a:t>
            </a:r>
            <a:r>
              <a:rPr lang="en-US" altLang="zh-CN" sz="1600" dirty="0"/>
              <a:t> create –f </a:t>
            </a:r>
            <a:r>
              <a:rPr lang="en-US" altLang="zh-CN" sz="1600" b="1" dirty="0" err="1"/>
              <a:t>basic.yaml</a:t>
            </a:r>
            <a:endParaRPr lang="en-US" altLang="zh-CN" sz="1600" b="1" dirty="0"/>
          </a:p>
          <a:p>
            <a:endParaRPr lang="en-US" altLang="zh-CN" sz="1600" b="1" dirty="0"/>
          </a:p>
          <a:p>
            <a:r>
              <a:rPr lang="zh-CN" altLang="en-US" sz="1600" dirty="0"/>
              <a:t>若要查看</a:t>
            </a:r>
            <a:r>
              <a:rPr lang="en-US" altLang="zh-CN" sz="1600" dirty="0" err="1"/>
              <a:t>flink</a:t>
            </a:r>
            <a:r>
              <a:rPr lang="zh-CN" altLang="en-US" sz="1600" dirty="0"/>
              <a:t>的</a:t>
            </a:r>
            <a:r>
              <a:rPr lang="en-US" altLang="zh-CN" sz="1600" dirty="0" err="1"/>
              <a:t>webui</a:t>
            </a:r>
            <a:r>
              <a:rPr lang="zh-CN" altLang="en-US" sz="1600" dirty="0"/>
              <a:t>，可进行端口转发，并允许外来地址访问</a:t>
            </a:r>
            <a:endParaRPr lang="en-US" altLang="zh-CN" sz="1600" dirty="0"/>
          </a:p>
          <a:p>
            <a:r>
              <a:rPr lang="en-US" altLang="zh-CN" sz="1600" dirty="0" err="1"/>
              <a:t>kubectl</a:t>
            </a:r>
            <a:r>
              <a:rPr lang="en-US" altLang="zh-CN" sz="1600" dirty="0"/>
              <a:t> port-forward svc/</a:t>
            </a:r>
            <a:r>
              <a:rPr lang="en-US" altLang="zh-CN" sz="1600" dirty="0" err="1"/>
              <a:t>largejob</a:t>
            </a:r>
            <a:r>
              <a:rPr lang="en-US" altLang="zh-CN" sz="1600" dirty="0"/>
              <a:t>-rest 8081 --address 0.0.0.0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C8F0C8B-E136-30E5-99D3-B861936F541B}"/>
              </a:ext>
            </a:extLst>
          </p:cNvPr>
          <p:cNvSpPr txBox="1"/>
          <p:nvPr/>
        </p:nvSpPr>
        <p:spPr>
          <a:xfrm>
            <a:off x="526581" y="156967"/>
            <a:ext cx="4254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K8s</a:t>
            </a:r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集群方式部署</a:t>
            </a:r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Flink</a:t>
            </a:r>
            <a:endParaRPr lang="zh-CN" altLang="en-US" sz="28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38BBC374-536B-6BC0-AA67-3C83CB0A6F74}"/>
              </a:ext>
            </a:extLst>
          </p:cNvPr>
          <p:cNvCxnSpPr/>
          <p:nvPr/>
        </p:nvCxnSpPr>
        <p:spPr>
          <a:xfrm>
            <a:off x="418346" y="102455"/>
            <a:ext cx="0" cy="632244"/>
          </a:xfrm>
          <a:prstGeom prst="line">
            <a:avLst/>
          </a:prstGeom>
          <a:ln w="76200">
            <a:solidFill>
              <a:srgbClr val="1C48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5443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7BBEA-5400-7F53-63B4-901BF3F04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8D9A6227-2538-54CD-E396-722BBD05D596}"/>
              </a:ext>
            </a:extLst>
          </p:cNvPr>
          <p:cNvCxnSpPr/>
          <p:nvPr/>
        </p:nvCxnSpPr>
        <p:spPr>
          <a:xfrm>
            <a:off x="1362333" y="3112251"/>
            <a:ext cx="616308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 descr="logo">
            <a:extLst>
              <a:ext uri="{FF2B5EF4-FFF2-40B4-BE49-F238E27FC236}">
                <a16:creationId xmlns:a16="http://schemas.microsoft.com/office/drawing/2014/main" id="{7B889A2E-6EA9-88AD-EEFC-188E7FDD7B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7165" y="294005"/>
            <a:ext cx="1524635" cy="63944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6A968ED-B07C-C250-E964-2163895C67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200" y="764883"/>
            <a:ext cx="3947228" cy="562802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EAF8908-4CF6-0A4D-B315-9F3DEC9EEE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2824" y="764883"/>
            <a:ext cx="4597118" cy="419414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FFCDCF51-BAB1-04CA-0266-1264274B9476}"/>
              </a:ext>
            </a:extLst>
          </p:cNvPr>
          <p:cNvSpPr txBox="1"/>
          <p:nvPr/>
        </p:nvSpPr>
        <p:spPr>
          <a:xfrm>
            <a:off x="376653" y="90507"/>
            <a:ext cx="2743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err="1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basic.yaml</a:t>
            </a:r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文件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FF42E21-BC68-13A9-AA5C-1B18EF3B9FE3}"/>
              </a:ext>
            </a:extLst>
          </p:cNvPr>
          <p:cNvSpPr txBox="1"/>
          <p:nvPr/>
        </p:nvSpPr>
        <p:spPr>
          <a:xfrm>
            <a:off x="4902824" y="5093457"/>
            <a:ext cx="5581680" cy="138499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将本地数据集和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jar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包放在所有节点同一目录下，并修改权限为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777</a:t>
            </a:r>
          </a:p>
          <a:p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挂载到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flink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镜像中的某个目录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这里本地数据集和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jar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包位于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/home/ubuntu/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tableapp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/upload</a:t>
            </a: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挂载目录为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flink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镜像中的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/opt/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flink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/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largejob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46519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B946B-CF9B-B5BC-FD82-0599F43FC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1A94D7B2-BEF3-6C28-0A80-02C5CB4BF2B3}"/>
              </a:ext>
            </a:extLst>
          </p:cNvPr>
          <p:cNvSpPr/>
          <p:nvPr/>
        </p:nvSpPr>
        <p:spPr>
          <a:xfrm>
            <a:off x="7988709" y="5737122"/>
            <a:ext cx="3957485" cy="825909"/>
          </a:xfrm>
          <a:prstGeom prst="rect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C2AD943-6ADB-B56B-BF55-70D26112CFDC}"/>
              </a:ext>
            </a:extLst>
          </p:cNvPr>
          <p:cNvSpPr/>
          <p:nvPr/>
        </p:nvSpPr>
        <p:spPr>
          <a:xfrm>
            <a:off x="245804" y="294968"/>
            <a:ext cx="3957485" cy="825909"/>
          </a:xfrm>
          <a:prstGeom prst="rect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0299FF2B-5B9D-E68F-F127-7CFE787668C8}"/>
              </a:ext>
            </a:extLst>
          </p:cNvPr>
          <p:cNvSpPr/>
          <p:nvPr/>
        </p:nvSpPr>
        <p:spPr>
          <a:xfrm>
            <a:off x="403122" y="449825"/>
            <a:ext cx="11385755" cy="5958349"/>
          </a:xfrm>
          <a:prstGeom prst="roundRect">
            <a:avLst>
              <a:gd name="adj" fmla="val 1568"/>
            </a:avLst>
          </a:prstGeom>
          <a:solidFill>
            <a:schemeClr val="bg1"/>
          </a:solidFill>
          <a:ln>
            <a:noFill/>
          </a:ln>
          <a:effectLst>
            <a:glow rad="228600">
              <a:schemeClr val="tx1">
                <a:alpha val="3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BB64A96-FA05-64CD-E626-12E065623348}"/>
              </a:ext>
            </a:extLst>
          </p:cNvPr>
          <p:cNvSpPr txBox="1"/>
          <p:nvPr/>
        </p:nvSpPr>
        <p:spPr>
          <a:xfrm>
            <a:off x="4221610" y="3013500"/>
            <a:ext cx="37487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4800" dirty="0">
                <a:solidFill>
                  <a:srgbClr val="1C4885"/>
                </a:solidFill>
                <a:cs typeface="+mn-ea"/>
                <a:sym typeface="+mn-lt"/>
              </a:rPr>
              <a:t>2.</a:t>
            </a:r>
            <a:r>
              <a:rPr lang="zh-CN" altLang="en-US" sz="4800" dirty="0">
                <a:solidFill>
                  <a:srgbClr val="1C4885"/>
                </a:solidFill>
                <a:cs typeface="+mn-ea"/>
                <a:sym typeface="+mn-lt"/>
              </a:rPr>
              <a:t>解法思路</a:t>
            </a:r>
          </a:p>
        </p:txBody>
      </p:sp>
    </p:spTree>
    <p:extLst>
      <p:ext uri="{BB962C8B-B14F-4D97-AF65-F5344CB8AC3E}">
        <p14:creationId xmlns:p14="http://schemas.microsoft.com/office/powerpoint/2010/main" val="1205980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9CF19-F251-9F26-4894-D3E3BC385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F3404008-8A4D-D3F9-EC4D-B39D3BAE0F3D}"/>
              </a:ext>
            </a:extLst>
          </p:cNvPr>
          <p:cNvCxnSpPr/>
          <p:nvPr/>
        </p:nvCxnSpPr>
        <p:spPr>
          <a:xfrm>
            <a:off x="1362333" y="3112251"/>
            <a:ext cx="616308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 descr="logo">
            <a:extLst>
              <a:ext uri="{FF2B5EF4-FFF2-40B4-BE49-F238E27FC236}">
                <a16:creationId xmlns:a16="http://schemas.microsoft.com/office/drawing/2014/main" id="{F1271259-F9BD-5828-0D32-0FAD3C4E8F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7165" y="294005"/>
            <a:ext cx="1524635" cy="639445"/>
          </a:xfrm>
          <a:prstGeom prst="rect">
            <a:avLst/>
          </a:prstGeom>
        </p:spPr>
      </p:pic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5EE58448-6570-BB4A-C264-EA7AEC97F9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008781"/>
              </p:ext>
            </p:extLst>
          </p:nvPr>
        </p:nvGraphicFramePr>
        <p:xfrm>
          <a:off x="1294887" y="1742883"/>
          <a:ext cx="9401752" cy="317300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350438">
                  <a:extLst>
                    <a:ext uri="{9D8B030D-6E8A-4147-A177-3AD203B41FA5}">
                      <a16:colId xmlns:a16="http://schemas.microsoft.com/office/drawing/2014/main" val="3722083554"/>
                    </a:ext>
                  </a:extLst>
                </a:gridCol>
                <a:gridCol w="2350438">
                  <a:extLst>
                    <a:ext uri="{9D8B030D-6E8A-4147-A177-3AD203B41FA5}">
                      <a16:colId xmlns:a16="http://schemas.microsoft.com/office/drawing/2014/main" val="8234218"/>
                    </a:ext>
                  </a:extLst>
                </a:gridCol>
                <a:gridCol w="2350438">
                  <a:extLst>
                    <a:ext uri="{9D8B030D-6E8A-4147-A177-3AD203B41FA5}">
                      <a16:colId xmlns:a16="http://schemas.microsoft.com/office/drawing/2014/main" val="3987130631"/>
                    </a:ext>
                  </a:extLst>
                </a:gridCol>
                <a:gridCol w="2350438">
                  <a:extLst>
                    <a:ext uri="{9D8B030D-6E8A-4147-A177-3AD203B41FA5}">
                      <a16:colId xmlns:a16="http://schemas.microsoft.com/office/drawing/2014/main" val="761974919"/>
                    </a:ext>
                  </a:extLst>
                </a:gridCol>
              </a:tblGrid>
              <a:tr h="105766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/>
                        <a:t>方法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/>
                        <a:t>配置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/>
                        <a:t>实际使用资源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/>
                        <a:t>总计耗时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2418814"/>
                  </a:ext>
                </a:extLst>
              </a:tr>
              <a:tr h="10576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/>
                        <a:t>Flink</a:t>
                      </a:r>
                      <a:r>
                        <a:rPr lang="zh-CN" altLang="en-US" sz="2800" dirty="0"/>
                        <a:t>集群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/>
                        <a:t>3</a:t>
                      </a:r>
                      <a:r>
                        <a:rPr lang="zh-CN" altLang="en-US" sz="2800" dirty="0"/>
                        <a:t>台</a:t>
                      </a:r>
                      <a:r>
                        <a:rPr lang="en-US" altLang="zh-CN" sz="2800" dirty="0"/>
                        <a:t>4</a:t>
                      </a:r>
                      <a:r>
                        <a:rPr lang="zh-CN" altLang="en-US" sz="2800" dirty="0"/>
                        <a:t>核</a:t>
                      </a:r>
                      <a:r>
                        <a:rPr lang="en-US" altLang="zh-CN" sz="2800" dirty="0"/>
                        <a:t>8G</a:t>
                      </a:r>
                    </a:p>
                    <a:p>
                      <a:pPr algn="ctr"/>
                      <a:r>
                        <a:rPr lang="en-US" altLang="zh-CN" sz="2800" dirty="0"/>
                        <a:t>2</a:t>
                      </a:r>
                      <a:r>
                        <a:rPr lang="zh-CN" altLang="en-US" sz="2800" dirty="0"/>
                        <a:t>个</a:t>
                      </a:r>
                      <a:r>
                        <a:rPr lang="en-US" altLang="zh-CN" sz="2800" dirty="0"/>
                        <a:t>TM</a:t>
                      </a:r>
                      <a:r>
                        <a:rPr lang="zh-CN" altLang="en-US" sz="2800" dirty="0"/>
                        <a:t>节点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/>
                        <a:t>2*4</a:t>
                      </a:r>
                      <a:r>
                        <a:rPr lang="zh-CN" altLang="en-US" sz="2800" dirty="0"/>
                        <a:t>核</a:t>
                      </a:r>
                      <a:r>
                        <a:rPr lang="en-US" altLang="zh-CN" sz="2800" dirty="0"/>
                        <a:t>8G</a:t>
                      </a:r>
                      <a:endParaRPr lang="zh-CN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/>
                        <a:t>34m50s</a:t>
                      </a:r>
                      <a:endParaRPr lang="zh-CN" altLang="en-US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981817"/>
                  </a:ext>
                </a:extLst>
              </a:tr>
              <a:tr h="10576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/>
                        <a:t>K8s</a:t>
                      </a:r>
                      <a:r>
                        <a:rPr lang="zh-CN" altLang="en-US" sz="2800" dirty="0"/>
                        <a:t>集群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/>
                        <a:t>3</a:t>
                      </a:r>
                      <a:r>
                        <a:rPr lang="zh-CN" altLang="en-US" sz="2800" dirty="0"/>
                        <a:t>台</a:t>
                      </a:r>
                      <a:r>
                        <a:rPr lang="en-US" altLang="zh-CN" sz="2800" dirty="0"/>
                        <a:t>16</a:t>
                      </a:r>
                      <a:r>
                        <a:rPr lang="zh-CN" altLang="en-US" sz="2800" dirty="0"/>
                        <a:t>核</a:t>
                      </a:r>
                      <a:r>
                        <a:rPr lang="en-US" altLang="zh-CN" sz="2800" dirty="0"/>
                        <a:t>64G</a:t>
                      </a:r>
                      <a:endParaRPr lang="zh-CN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/>
                        <a:t>3*12</a:t>
                      </a:r>
                      <a:r>
                        <a:rPr lang="zh-CN" altLang="en-US" sz="2800" dirty="0"/>
                        <a:t>核</a:t>
                      </a:r>
                      <a:r>
                        <a:rPr lang="en-US" altLang="zh-CN" sz="2800" dirty="0"/>
                        <a:t>50G</a:t>
                      </a:r>
                      <a:endParaRPr lang="zh-CN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/>
                        <a:t>8m50s</a:t>
                      </a:r>
                      <a:endParaRPr lang="zh-CN" altLang="en-US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6994743"/>
                  </a:ext>
                </a:extLst>
              </a:tr>
            </a:tbl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E5FDD423-0376-FCEB-52F6-23100471CA39}"/>
              </a:ext>
            </a:extLst>
          </p:cNvPr>
          <p:cNvSpPr txBox="1"/>
          <p:nvPr/>
        </p:nvSpPr>
        <p:spPr>
          <a:xfrm>
            <a:off x="457490" y="342464"/>
            <a:ext cx="23264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4000" b="1" dirty="0">
                <a:solidFill>
                  <a:srgbClr val="1C4885"/>
                </a:solidFill>
                <a:cs typeface="+mn-ea"/>
                <a:sym typeface="+mn-lt"/>
              </a:rPr>
              <a:t>解决办法</a:t>
            </a:r>
          </a:p>
        </p:txBody>
      </p:sp>
    </p:spTree>
    <p:extLst>
      <p:ext uri="{BB962C8B-B14F-4D97-AF65-F5344CB8AC3E}">
        <p14:creationId xmlns:p14="http://schemas.microsoft.com/office/powerpoint/2010/main" val="2077247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E70C4-2A37-D7ED-1B37-C5183F7AF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6CF77BE4-BB2D-4DA2-425F-7B72137312F5}"/>
              </a:ext>
            </a:extLst>
          </p:cNvPr>
          <p:cNvSpPr/>
          <p:nvPr/>
        </p:nvSpPr>
        <p:spPr>
          <a:xfrm>
            <a:off x="7988709" y="5737122"/>
            <a:ext cx="3957485" cy="825909"/>
          </a:xfrm>
          <a:prstGeom prst="rect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CB85BD9-88B1-8EE2-A14F-C141FFCE49EA}"/>
              </a:ext>
            </a:extLst>
          </p:cNvPr>
          <p:cNvSpPr/>
          <p:nvPr/>
        </p:nvSpPr>
        <p:spPr>
          <a:xfrm>
            <a:off x="245804" y="294968"/>
            <a:ext cx="3957485" cy="825909"/>
          </a:xfrm>
          <a:prstGeom prst="rect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A3E91826-06AB-9B54-56C6-9D0B13A8C87B}"/>
              </a:ext>
            </a:extLst>
          </p:cNvPr>
          <p:cNvSpPr/>
          <p:nvPr/>
        </p:nvSpPr>
        <p:spPr>
          <a:xfrm>
            <a:off x="403122" y="449825"/>
            <a:ext cx="11385755" cy="5958349"/>
          </a:xfrm>
          <a:prstGeom prst="roundRect">
            <a:avLst>
              <a:gd name="adj" fmla="val 1568"/>
            </a:avLst>
          </a:prstGeom>
          <a:solidFill>
            <a:schemeClr val="bg1"/>
          </a:solidFill>
          <a:ln>
            <a:noFill/>
          </a:ln>
          <a:effectLst>
            <a:glow rad="228600">
              <a:schemeClr val="tx1">
                <a:alpha val="3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25F954C-30AE-B867-D714-72DC7B837F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568" y="1346631"/>
            <a:ext cx="4265962" cy="208236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F1135F78-FB80-0E4C-E090-3F5551BF2C66}"/>
              </a:ext>
            </a:extLst>
          </p:cNvPr>
          <p:cNvSpPr/>
          <p:nvPr/>
        </p:nvSpPr>
        <p:spPr>
          <a:xfrm>
            <a:off x="6448779" y="1366901"/>
            <a:ext cx="3957485" cy="58477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lIns="91440" tIns="45720" rIns="91440" bIns="45720">
            <a:spAutoFit/>
          </a:bodyPr>
          <a:lstStyle/>
          <a:p>
            <a:r>
              <a:rPr lang="zh-CN" alt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原始数据特点：</a:t>
            </a:r>
            <a:endParaRPr lang="en-US" altLang="zh-CN" sz="1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altLang="zh-CN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6832726</a:t>
            </a:r>
            <a:r>
              <a:rPr lang="zh-CN" alt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行、</a:t>
            </a:r>
            <a:r>
              <a:rPr lang="en-US" altLang="zh-CN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21</a:t>
            </a:r>
            <a:r>
              <a:rPr lang="zh-CN" alt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位数字字符串、无重复行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A629EA5-1FD8-2F56-96FE-560491EF3375}"/>
              </a:ext>
            </a:extLst>
          </p:cNvPr>
          <p:cNvSpPr/>
          <p:nvPr/>
        </p:nvSpPr>
        <p:spPr>
          <a:xfrm>
            <a:off x="6448779" y="2156373"/>
            <a:ext cx="3957484" cy="1077218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lIns="91440" tIns="45720" rIns="91440" bIns="45720">
            <a:spAutoFit/>
          </a:bodyPr>
          <a:lstStyle/>
          <a:p>
            <a:r>
              <a:rPr lang="zh-CN" alt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存储类型：</a:t>
            </a:r>
            <a:endParaRPr lang="en-US" altLang="zh-CN" sz="1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altLang="zh-CN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INT</a:t>
            </a:r>
            <a:r>
              <a:rPr lang="zh-CN" alt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：</a:t>
            </a:r>
            <a:r>
              <a:rPr lang="en-US" altLang="zh-CN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</a:t>
            </a:r>
            <a:r>
              <a:rPr lang="zh-CN" alt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位</a:t>
            </a:r>
            <a:r>
              <a:rPr lang="en-US" altLang="zh-CN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×</a:t>
            </a:r>
          </a:p>
          <a:p>
            <a:r>
              <a:rPr lang="en-US" altLang="zh-CN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BIGINT</a:t>
            </a:r>
            <a:r>
              <a:rPr lang="zh-CN" alt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：</a:t>
            </a:r>
            <a:r>
              <a:rPr lang="en-US" altLang="zh-CN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19</a:t>
            </a:r>
            <a:r>
              <a:rPr lang="zh-CN" alt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位</a:t>
            </a:r>
            <a:r>
              <a:rPr lang="en-US" altLang="zh-CN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×</a:t>
            </a:r>
          </a:p>
          <a:p>
            <a:r>
              <a:rPr lang="en-US" altLang="zh-CN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STRING</a:t>
            </a:r>
            <a:r>
              <a:rPr lang="zh-CN" alt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、</a:t>
            </a:r>
            <a:r>
              <a:rPr lang="en-US" altLang="zh-CN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DECIMAL</a:t>
            </a:r>
            <a:r>
              <a:rPr lang="zh-CN" alt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性能开销大</a:t>
            </a:r>
            <a:r>
              <a:rPr lang="en-US" altLang="zh-CN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×</a:t>
            </a:r>
            <a:endParaRPr lang="zh-CN" altLang="en-US" sz="1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3C727E4-3941-B658-6187-55499A67F35B}"/>
              </a:ext>
            </a:extLst>
          </p:cNvPr>
          <p:cNvSpPr txBox="1"/>
          <p:nvPr/>
        </p:nvSpPr>
        <p:spPr>
          <a:xfrm>
            <a:off x="684556" y="587940"/>
            <a:ext cx="23264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4000" b="1" dirty="0">
                <a:solidFill>
                  <a:srgbClr val="1C4885"/>
                </a:solidFill>
                <a:cs typeface="+mn-ea"/>
                <a:sym typeface="+mn-lt"/>
              </a:rPr>
              <a:t>解法思路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44F6AFF-D22D-D169-33E4-7824A657D2FA}"/>
              </a:ext>
            </a:extLst>
          </p:cNvPr>
          <p:cNvSpPr/>
          <p:nvPr/>
        </p:nvSpPr>
        <p:spPr>
          <a:xfrm>
            <a:off x="3756695" y="3994276"/>
            <a:ext cx="4884077" cy="203132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lIns="91440" tIns="45720" rIns="91440" bIns="45720">
            <a:spAutoFit/>
          </a:bodyPr>
          <a:lstStyle/>
          <a:p>
            <a:r>
              <a:rPr lang="zh-CN" altLang="en-US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解决办法</a:t>
            </a:r>
            <a:r>
              <a:rPr lang="en-US" altLang="zh-CN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——</a:t>
            </a:r>
            <a:r>
              <a:rPr lang="zh-CN" altLang="en-US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转换数据集：</a:t>
            </a:r>
            <a:endParaRPr lang="en-US" altLang="zh-CN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en-US" altLang="zh-CN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zh-CN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排序</a:t>
            </a:r>
            <a:r>
              <a:rPr lang="en-US" altLang="zh-CN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——</a:t>
            </a:r>
            <a:r>
              <a:rPr lang="zh-CN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两列数据分别映射到</a:t>
            </a:r>
            <a:r>
              <a:rPr lang="en-US" altLang="zh-CN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0-7</a:t>
            </a:r>
            <a:r>
              <a:rPr lang="zh-CN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万，</a:t>
            </a:r>
            <a:r>
              <a:rPr lang="en-US" altLang="zh-CN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0-10</a:t>
            </a:r>
            <a:r>
              <a:rPr lang="zh-CN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万</a:t>
            </a:r>
            <a:endParaRPr lang="en-US" altLang="zh-CN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en-US" altLang="zh-CN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zh-CN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保存映射字典，供后续转换使用</a:t>
            </a:r>
            <a:endParaRPr lang="en-US" altLang="zh-CN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en-US" altLang="zh-CN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zh-CN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使用</a:t>
            </a:r>
            <a:r>
              <a:rPr lang="en-US" altLang="zh-CN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INT</a:t>
            </a:r>
            <a:r>
              <a:rPr lang="zh-CN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存储</a:t>
            </a:r>
          </a:p>
        </p:txBody>
      </p:sp>
      <p:sp>
        <p:nvSpPr>
          <p:cNvPr id="18" name="箭头: 下 17">
            <a:extLst>
              <a:ext uri="{FF2B5EF4-FFF2-40B4-BE49-F238E27FC236}">
                <a16:creationId xmlns:a16="http://schemas.microsoft.com/office/drawing/2014/main" id="{E5F136DA-050F-28C8-1DCA-E38363CC4139}"/>
              </a:ext>
            </a:extLst>
          </p:cNvPr>
          <p:cNvSpPr/>
          <p:nvPr/>
        </p:nvSpPr>
        <p:spPr>
          <a:xfrm rot="16200000">
            <a:off x="5530205" y="1922290"/>
            <a:ext cx="319120" cy="611930"/>
          </a:xfrm>
          <a:prstGeom prst="downArrow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3043343-DF45-609E-1A22-D295E1437BDC}"/>
              </a:ext>
            </a:extLst>
          </p:cNvPr>
          <p:cNvSpPr txBox="1"/>
          <p:nvPr/>
        </p:nvSpPr>
        <p:spPr>
          <a:xfrm>
            <a:off x="1710665" y="3470087"/>
            <a:ext cx="11288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约</a:t>
            </a:r>
            <a:r>
              <a:rPr lang="en-US" altLang="zh-CN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  <a:r>
              <a:rPr lang="zh-CN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万个</a:t>
            </a:r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D8C449F-C279-1950-E589-BBD21C3CD62A}"/>
              </a:ext>
            </a:extLst>
          </p:cNvPr>
          <p:cNvSpPr txBox="1"/>
          <p:nvPr/>
        </p:nvSpPr>
        <p:spPr>
          <a:xfrm>
            <a:off x="3510694" y="3470087"/>
            <a:ext cx="13374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约</a:t>
            </a:r>
            <a:r>
              <a:rPr lang="en-US" altLang="zh-CN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</a:t>
            </a:r>
            <a:r>
              <a:rPr lang="zh-CN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万个</a:t>
            </a:r>
            <a:endParaRPr lang="zh-CN" altLang="en-US" dirty="0"/>
          </a:p>
        </p:txBody>
      </p:sp>
      <p:sp>
        <p:nvSpPr>
          <p:cNvPr id="24" name="箭头: 下 23">
            <a:extLst>
              <a:ext uri="{FF2B5EF4-FFF2-40B4-BE49-F238E27FC236}">
                <a16:creationId xmlns:a16="http://schemas.microsoft.com/office/drawing/2014/main" id="{57F0AE6F-AD02-E7C2-05AA-F1D5143DBF70}"/>
              </a:ext>
            </a:extLst>
          </p:cNvPr>
          <p:cNvSpPr/>
          <p:nvPr/>
        </p:nvSpPr>
        <p:spPr>
          <a:xfrm rot="2773321">
            <a:off x="6676530" y="3348787"/>
            <a:ext cx="319120" cy="611930"/>
          </a:xfrm>
          <a:prstGeom prst="downArrow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3443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E03EC-2424-25FC-94A6-3557823ED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>
            <a:extLst>
              <a:ext uri="{FF2B5EF4-FFF2-40B4-BE49-F238E27FC236}">
                <a16:creationId xmlns:a16="http://schemas.microsoft.com/office/drawing/2014/main" id="{17FD17F4-CB45-01CB-1691-32B192BA6676}"/>
              </a:ext>
            </a:extLst>
          </p:cNvPr>
          <p:cNvGrpSpPr/>
          <p:nvPr/>
        </p:nvGrpSpPr>
        <p:grpSpPr>
          <a:xfrm>
            <a:off x="2967719" y="836522"/>
            <a:ext cx="5311481" cy="2081945"/>
            <a:chOff x="5303355" y="846354"/>
            <a:chExt cx="5311481" cy="2081945"/>
          </a:xfrm>
        </p:grpSpPr>
        <p:pic>
          <p:nvPicPr>
            <p:cNvPr id="25" name="图片 24">
              <a:extLst>
                <a:ext uri="{FF2B5EF4-FFF2-40B4-BE49-F238E27FC236}">
                  <a16:creationId xmlns:a16="http://schemas.microsoft.com/office/drawing/2014/main" id="{98160C34-A9E9-0C3F-E6E0-868BC6B5B9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03355" y="846354"/>
              <a:ext cx="2394962" cy="2077369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pic>
          <p:nvPicPr>
            <p:cNvPr id="27" name="图片 26">
              <a:extLst>
                <a:ext uri="{FF2B5EF4-FFF2-40B4-BE49-F238E27FC236}">
                  <a16:creationId xmlns:a16="http://schemas.microsoft.com/office/drawing/2014/main" id="{B664421E-D7FD-5C59-7BB3-2CA130CB6FD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137778" y="846354"/>
              <a:ext cx="2477058" cy="2081945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</p:grp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C2B93412-8380-9069-A6BD-530CBB7EA992}"/>
              </a:ext>
            </a:extLst>
          </p:cNvPr>
          <p:cNvCxnSpPr/>
          <p:nvPr/>
        </p:nvCxnSpPr>
        <p:spPr>
          <a:xfrm>
            <a:off x="1362333" y="3112251"/>
            <a:ext cx="616308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 descr="logo">
            <a:extLst>
              <a:ext uri="{FF2B5EF4-FFF2-40B4-BE49-F238E27FC236}">
                <a16:creationId xmlns:a16="http://schemas.microsoft.com/office/drawing/2014/main" id="{CC877226-40F1-F33C-7255-5F71E4394A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7165" y="294005"/>
            <a:ext cx="1524635" cy="63944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CD584A5B-917B-1F82-153F-3FF30B436889}"/>
              </a:ext>
            </a:extLst>
          </p:cNvPr>
          <p:cNvSpPr txBox="1"/>
          <p:nvPr/>
        </p:nvSpPr>
        <p:spPr>
          <a:xfrm>
            <a:off x="199095" y="1331144"/>
            <a:ext cx="23264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4000" b="1" dirty="0">
                <a:solidFill>
                  <a:srgbClr val="1C4885"/>
                </a:solidFill>
                <a:cs typeface="+mn-ea"/>
                <a:sym typeface="+mn-lt"/>
              </a:rPr>
              <a:t>映射字典：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CBE78EE-4C9D-E823-CE31-95796552A016}"/>
              </a:ext>
            </a:extLst>
          </p:cNvPr>
          <p:cNvSpPr txBox="1"/>
          <p:nvPr/>
        </p:nvSpPr>
        <p:spPr>
          <a:xfrm>
            <a:off x="3672060" y="390198"/>
            <a:ext cx="9177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第一列</a:t>
            </a:r>
            <a:endParaRPr lang="zh-CN" altLang="en-US" dirty="0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C988F5E5-9FB3-002A-D0C8-20C130AEF4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1143" y="3112251"/>
            <a:ext cx="1907339" cy="357770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09221A8F-04CF-A9C2-1003-EC4AFD01509E}"/>
              </a:ext>
            </a:extLst>
          </p:cNvPr>
          <p:cNvSpPr txBox="1"/>
          <p:nvPr/>
        </p:nvSpPr>
        <p:spPr>
          <a:xfrm>
            <a:off x="8793167" y="4410085"/>
            <a:ext cx="21444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转换后数据集</a:t>
            </a:r>
            <a:r>
              <a:rPr lang="en-US" altLang="zh-CN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83M</a:t>
            </a:r>
            <a:endParaRPr lang="zh-CN" altLang="en-US" dirty="0"/>
          </a:p>
        </p:txBody>
      </p:sp>
      <p:sp>
        <p:nvSpPr>
          <p:cNvPr id="20" name="箭头: 下 19">
            <a:extLst>
              <a:ext uri="{FF2B5EF4-FFF2-40B4-BE49-F238E27FC236}">
                <a16:creationId xmlns:a16="http://schemas.microsoft.com/office/drawing/2014/main" id="{7354C174-5F87-C6BB-A3CE-179ED0870CE4}"/>
              </a:ext>
            </a:extLst>
          </p:cNvPr>
          <p:cNvSpPr/>
          <p:nvPr/>
        </p:nvSpPr>
        <p:spPr>
          <a:xfrm rot="16200000">
            <a:off x="5642582" y="4448347"/>
            <a:ext cx="319120" cy="611930"/>
          </a:xfrm>
          <a:prstGeom prst="downArrow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2F835BAF-A991-7082-3ED6-14D5C771EEF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793" y="3847152"/>
            <a:ext cx="4265962" cy="208236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D72A6C2C-683A-F2C4-826F-1BD75C969834}"/>
              </a:ext>
            </a:extLst>
          </p:cNvPr>
          <p:cNvSpPr txBox="1"/>
          <p:nvPr/>
        </p:nvSpPr>
        <p:spPr>
          <a:xfrm>
            <a:off x="1804482" y="3429000"/>
            <a:ext cx="23264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原始数据集：</a:t>
            </a:r>
            <a:r>
              <a:rPr lang="en-US" altLang="zh-CN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286M</a:t>
            </a:r>
            <a:endParaRPr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3198274-12C0-BCD2-B262-2474BE8C7D2C}"/>
              </a:ext>
            </a:extLst>
          </p:cNvPr>
          <p:cNvSpPr txBox="1"/>
          <p:nvPr/>
        </p:nvSpPr>
        <p:spPr>
          <a:xfrm>
            <a:off x="6581775" y="429061"/>
            <a:ext cx="9177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第二列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58526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00C36-3744-19F5-83FA-AF67C89BF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32022AE-CE62-26EA-B822-7BD81C680C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200" y="1858679"/>
            <a:ext cx="5981502" cy="360569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" name="图片 1" descr="logo">
            <a:extLst>
              <a:ext uri="{FF2B5EF4-FFF2-40B4-BE49-F238E27FC236}">
                <a16:creationId xmlns:a16="http://schemas.microsoft.com/office/drawing/2014/main" id="{32F6887A-1407-55A3-3F8C-1C8B5439DC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7165" y="294005"/>
            <a:ext cx="1524635" cy="639445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79EF71D8-CD89-D502-AD89-97F898E6E2F5}"/>
              </a:ext>
            </a:extLst>
          </p:cNvPr>
          <p:cNvSpPr/>
          <p:nvPr/>
        </p:nvSpPr>
        <p:spPr>
          <a:xfrm>
            <a:off x="330200" y="215544"/>
            <a:ext cx="331347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JAVA</a:t>
            </a:r>
            <a:r>
              <a:rPr lang="zh-CN" alt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代码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6E6C7AF-5C3D-8945-0F63-729E395526B7}"/>
              </a:ext>
            </a:extLst>
          </p:cNvPr>
          <p:cNvSpPr txBox="1"/>
          <p:nvPr/>
        </p:nvSpPr>
        <p:spPr>
          <a:xfrm>
            <a:off x="7540151" y="1795136"/>
            <a:ext cx="3676142" cy="160043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flink1.12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之后，批处理模式通常比流处理模式在处理静态大数据集时效率更高：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批处理模式会自动做全局优化如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全局排序、资源复用等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)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。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流处理模式主要为低延迟，适合实时场景。</a:t>
            </a:r>
          </a:p>
        </p:txBody>
      </p:sp>
      <p:sp>
        <p:nvSpPr>
          <p:cNvPr id="17" name="箭头: 下 16">
            <a:extLst>
              <a:ext uri="{FF2B5EF4-FFF2-40B4-BE49-F238E27FC236}">
                <a16:creationId xmlns:a16="http://schemas.microsoft.com/office/drawing/2014/main" id="{5870003E-7E43-5688-A679-5E171CD6E3AD}"/>
              </a:ext>
            </a:extLst>
          </p:cNvPr>
          <p:cNvSpPr/>
          <p:nvPr/>
        </p:nvSpPr>
        <p:spPr>
          <a:xfrm rot="16200000">
            <a:off x="6694641" y="2697206"/>
            <a:ext cx="140492" cy="855529"/>
          </a:xfrm>
          <a:prstGeom prst="downArrow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1" name="箭头: 下 20">
            <a:extLst>
              <a:ext uri="{FF2B5EF4-FFF2-40B4-BE49-F238E27FC236}">
                <a16:creationId xmlns:a16="http://schemas.microsoft.com/office/drawing/2014/main" id="{EE1FDA65-7438-CC4B-4E47-5C956E1C619B}"/>
              </a:ext>
            </a:extLst>
          </p:cNvPr>
          <p:cNvSpPr/>
          <p:nvPr/>
        </p:nvSpPr>
        <p:spPr>
          <a:xfrm rot="17028848">
            <a:off x="6699041" y="3233761"/>
            <a:ext cx="140492" cy="855529"/>
          </a:xfrm>
          <a:prstGeom prst="downArrow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5A76405-3482-6353-A6A8-F14DA4277566}"/>
              </a:ext>
            </a:extLst>
          </p:cNvPr>
          <p:cNvSpPr txBox="1"/>
          <p:nvPr/>
        </p:nvSpPr>
        <p:spPr>
          <a:xfrm>
            <a:off x="7540151" y="3692663"/>
            <a:ext cx="3120230" cy="138499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在传统集群方式中，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java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代码设置并行数以提高效率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K8s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集群方式，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java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代码不用设置并行数，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yaml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文件中指定</a:t>
            </a:r>
          </a:p>
        </p:txBody>
      </p:sp>
    </p:spTree>
    <p:extLst>
      <p:ext uri="{BB962C8B-B14F-4D97-AF65-F5344CB8AC3E}">
        <p14:creationId xmlns:p14="http://schemas.microsoft.com/office/powerpoint/2010/main" val="1932736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3BE04-9C44-11CE-3CB0-3CC74E9EB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BE84140B-9FDA-2050-704E-B8C07EC3B585}"/>
              </a:ext>
            </a:extLst>
          </p:cNvPr>
          <p:cNvCxnSpPr/>
          <p:nvPr/>
        </p:nvCxnSpPr>
        <p:spPr>
          <a:xfrm>
            <a:off x="1362333" y="3112251"/>
            <a:ext cx="616308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 descr="logo">
            <a:extLst>
              <a:ext uri="{FF2B5EF4-FFF2-40B4-BE49-F238E27FC236}">
                <a16:creationId xmlns:a16="http://schemas.microsoft.com/office/drawing/2014/main" id="{5E2A4600-2101-491D-201D-742B82BD18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7165" y="294005"/>
            <a:ext cx="1524635" cy="63944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0B786B75-2EA4-E20B-8F5D-B8FBE6C5C8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8637" y="942087"/>
            <a:ext cx="5701253" cy="391989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C85642C8-EF03-806D-9907-AB274F5C24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420" y="3203786"/>
            <a:ext cx="4833973" cy="252655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5BDA57F9-3BC8-8562-F1E6-C577D93318F9}"/>
              </a:ext>
            </a:extLst>
          </p:cNvPr>
          <p:cNvSpPr/>
          <p:nvPr/>
        </p:nvSpPr>
        <p:spPr>
          <a:xfrm>
            <a:off x="138877" y="124031"/>
            <a:ext cx="412138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JAVA</a:t>
            </a:r>
            <a:r>
              <a:rPr lang="zh-CN" alt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代码续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39F4A9-800E-4637-E8EF-99E1F373E1CA}"/>
              </a:ext>
            </a:extLst>
          </p:cNvPr>
          <p:cNvSpPr txBox="1"/>
          <p:nvPr/>
        </p:nvSpPr>
        <p:spPr>
          <a:xfrm>
            <a:off x="250419" y="2040260"/>
            <a:ext cx="4833973" cy="861774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  <a:effectLst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对于传统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flink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集群方式，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path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为本地数据集路径。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对于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k8s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集群方式，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path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为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flink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镜像中的挂载目录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BDDA4FC-58F2-9144-AD3F-9B0983D746F4}"/>
              </a:ext>
            </a:extLst>
          </p:cNvPr>
          <p:cNvSpPr txBox="1"/>
          <p:nvPr/>
        </p:nvSpPr>
        <p:spPr>
          <a:xfrm>
            <a:off x="5768637" y="5287679"/>
            <a:ext cx="5701252" cy="738664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  <a:effectLst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basic.yaml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文件中，将数据集和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jar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的目录挂载好后，通过命令：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kubectl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create –f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basic.yaml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创建任务，会自动创建镜像，执行查询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8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E8B98-47AD-E474-0266-76BD84855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7600589A-813D-8E6F-0B5F-FE600444A7B0}"/>
              </a:ext>
            </a:extLst>
          </p:cNvPr>
          <p:cNvCxnSpPr/>
          <p:nvPr/>
        </p:nvCxnSpPr>
        <p:spPr>
          <a:xfrm>
            <a:off x="1362333" y="3112251"/>
            <a:ext cx="616308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 descr="logo">
            <a:extLst>
              <a:ext uri="{FF2B5EF4-FFF2-40B4-BE49-F238E27FC236}">
                <a16:creationId xmlns:a16="http://schemas.microsoft.com/office/drawing/2014/main" id="{7DDFA23A-1835-D29D-4263-2A67C8BE4C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7165" y="294005"/>
            <a:ext cx="1524635" cy="63944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6AD32B7-CB55-09FA-9B02-8BF416A5CD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7816" y="1478997"/>
            <a:ext cx="9176367" cy="49152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0C6A8629-2B03-5A9B-FE48-B76140AEF439}"/>
              </a:ext>
            </a:extLst>
          </p:cNvPr>
          <p:cNvSpPr/>
          <p:nvPr/>
        </p:nvSpPr>
        <p:spPr>
          <a:xfrm>
            <a:off x="141486" y="70473"/>
            <a:ext cx="2441694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4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运行截图</a:t>
            </a:r>
          </a:p>
        </p:txBody>
      </p:sp>
    </p:spTree>
    <p:extLst>
      <p:ext uri="{BB962C8B-B14F-4D97-AF65-F5344CB8AC3E}">
        <p14:creationId xmlns:p14="http://schemas.microsoft.com/office/powerpoint/2010/main" val="3923305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C2CD1-2C79-9448-CD94-B3EF0FE25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43F83100-2C69-297A-76E0-B184030B231C}"/>
              </a:ext>
            </a:extLst>
          </p:cNvPr>
          <p:cNvCxnSpPr/>
          <p:nvPr/>
        </p:nvCxnSpPr>
        <p:spPr>
          <a:xfrm>
            <a:off x="1362333" y="3112251"/>
            <a:ext cx="616308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 descr="logo">
            <a:extLst>
              <a:ext uri="{FF2B5EF4-FFF2-40B4-BE49-F238E27FC236}">
                <a16:creationId xmlns:a16="http://schemas.microsoft.com/office/drawing/2014/main" id="{EDF4D566-84C7-1EDA-F099-A21B6B8251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7165" y="294005"/>
            <a:ext cx="1524635" cy="63944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25F0747-7F11-0919-D338-56FFE48FF7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1009" y="700247"/>
            <a:ext cx="6909982" cy="370124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D85E803B-3919-07BC-7677-B347F3F1E0A1}"/>
              </a:ext>
            </a:extLst>
          </p:cNvPr>
          <p:cNvSpPr/>
          <p:nvPr/>
        </p:nvSpPr>
        <p:spPr>
          <a:xfrm>
            <a:off x="141486" y="70473"/>
            <a:ext cx="2441694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4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运行截图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AC8026C-FB01-00BC-0DEF-12B0EBD54D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2963" y="4693734"/>
            <a:ext cx="9703690" cy="152226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533972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1DFFF-F014-91C4-FA69-BD55A22B7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EEF5D8C1-D475-DA60-A9AA-FE8132F1CE86}"/>
              </a:ext>
            </a:extLst>
          </p:cNvPr>
          <p:cNvCxnSpPr/>
          <p:nvPr/>
        </p:nvCxnSpPr>
        <p:spPr>
          <a:xfrm>
            <a:off x="1362333" y="3112251"/>
            <a:ext cx="616308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 descr="logo">
            <a:extLst>
              <a:ext uri="{FF2B5EF4-FFF2-40B4-BE49-F238E27FC236}">
                <a16:creationId xmlns:a16="http://schemas.microsoft.com/office/drawing/2014/main" id="{22AA0F38-9998-5A18-7A65-1D7B6652EF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7165" y="294005"/>
            <a:ext cx="1524635" cy="639445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B8E20A3E-8049-6622-94C5-65222DDB2B31}"/>
              </a:ext>
            </a:extLst>
          </p:cNvPr>
          <p:cNvSpPr/>
          <p:nvPr/>
        </p:nvSpPr>
        <p:spPr>
          <a:xfrm>
            <a:off x="141486" y="70473"/>
            <a:ext cx="2441694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4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运行截图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FD28D74-A5BA-D94B-84FB-BF0F0EF2F3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875" y="1067823"/>
            <a:ext cx="11512463" cy="526557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559651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119CD-909B-914A-4656-E7696CCAA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690C5A8D-669E-9670-6F6F-15B5741912D6}"/>
              </a:ext>
            </a:extLst>
          </p:cNvPr>
          <p:cNvCxnSpPr/>
          <p:nvPr/>
        </p:nvCxnSpPr>
        <p:spPr>
          <a:xfrm>
            <a:off x="1362333" y="3112251"/>
            <a:ext cx="616308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 descr="logo">
            <a:extLst>
              <a:ext uri="{FF2B5EF4-FFF2-40B4-BE49-F238E27FC236}">
                <a16:creationId xmlns:a16="http://schemas.microsoft.com/office/drawing/2014/main" id="{F17E9B83-827F-499C-B1AF-32036D062E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7165" y="294005"/>
            <a:ext cx="1524635" cy="639445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15751E42-477E-1BB1-2EC3-28DFECA6BFA0}"/>
              </a:ext>
            </a:extLst>
          </p:cNvPr>
          <p:cNvSpPr/>
          <p:nvPr/>
        </p:nvSpPr>
        <p:spPr>
          <a:xfrm>
            <a:off x="53127" y="45073"/>
            <a:ext cx="7584127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4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结果处理</a:t>
            </a:r>
            <a:r>
              <a:rPr lang="en-US" altLang="zh-CN" sz="4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——</a:t>
            </a:r>
            <a:r>
              <a:rPr lang="zh-CN" altLang="en-US" sz="4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生成</a:t>
            </a:r>
            <a:r>
              <a:rPr lang="en-US" altLang="zh-CN" sz="4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36</a:t>
            </a:r>
            <a:r>
              <a:rPr lang="zh-CN" altLang="en-US" sz="4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个子文件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111C8E5-101C-070E-A327-28F4A97E6F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8091" y="1056189"/>
            <a:ext cx="8493815" cy="453017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168537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537E6-F1AA-976A-FC02-4FEF28CDD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3BC60C68-CDEA-8236-5618-D5922E0B2CC0}"/>
              </a:ext>
            </a:extLst>
          </p:cNvPr>
          <p:cNvCxnSpPr/>
          <p:nvPr/>
        </p:nvCxnSpPr>
        <p:spPr>
          <a:xfrm>
            <a:off x="1362333" y="3112251"/>
            <a:ext cx="616308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 descr="logo">
            <a:extLst>
              <a:ext uri="{FF2B5EF4-FFF2-40B4-BE49-F238E27FC236}">
                <a16:creationId xmlns:a16="http://schemas.microsoft.com/office/drawing/2014/main" id="{54D9396E-A05D-76B1-19C7-89B27BA2C0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7165" y="294005"/>
            <a:ext cx="1524635" cy="639445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D116F767-BA55-6D0B-FDD1-109143C72562}"/>
              </a:ext>
            </a:extLst>
          </p:cNvPr>
          <p:cNvSpPr/>
          <p:nvPr/>
        </p:nvSpPr>
        <p:spPr>
          <a:xfrm>
            <a:off x="0" y="164009"/>
            <a:ext cx="8377614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4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结果处理</a:t>
            </a:r>
            <a:r>
              <a:rPr lang="en-US" altLang="zh-CN" sz="4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——</a:t>
            </a:r>
            <a:r>
              <a:rPr lang="zh-CN" altLang="en-US" sz="4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显示结果文件信息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F871B5D-6BDD-590A-C157-2F03425141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908" y="1153891"/>
            <a:ext cx="11164184" cy="59409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D220BD0C-B21A-EC36-D20D-3FEA755CEF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7865" y="1930875"/>
            <a:ext cx="6038470" cy="118137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BD02827-EE18-41D2-66D5-E132FF49AD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57865" y="3378562"/>
            <a:ext cx="6043818" cy="281972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560842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48681-2991-6A59-AE48-4017C37B4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D7B07EC0-F1A0-E168-7DDE-BF3F6CC1D555}"/>
              </a:ext>
            </a:extLst>
          </p:cNvPr>
          <p:cNvCxnSpPr/>
          <p:nvPr/>
        </p:nvCxnSpPr>
        <p:spPr>
          <a:xfrm>
            <a:off x="1362333" y="3112251"/>
            <a:ext cx="616308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 descr="logo">
            <a:extLst>
              <a:ext uri="{FF2B5EF4-FFF2-40B4-BE49-F238E27FC236}">
                <a16:creationId xmlns:a16="http://schemas.microsoft.com/office/drawing/2014/main" id="{B1161B06-F853-FFCA-DADA-6484D4F547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7165" y="294005"/>
            <a:ext cx="1524635" cy="639445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61FB786F-46FA-09BE-1A77-3C025B2F14FB}"/>
              </a:ext>
            </a:extLst>
          </p:cNvPr>
          <p:cNvSpPr/>
          <p:nvPr/>
        </p:nvSpPr>
        <p:spPr>
          <a:xfrm>
            <a:off x="49746" y="74040"/>
            <a:ext cx="9432389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4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结果处理</a:t>
            </a:r>
            <a:r>
              <a:rPr lang="en-US" altLang="zh-CN" sz="4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——Python</a:t>
            </a:r>
            <a:r>
              <a:rPr lang="zh-CN" altLang="en-US" sz="4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脚本进行反映射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D42C5EB-C0B7-F9A4-67BF-8EC7198FB5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405" y="933450"/>
            <a:ext cx="5162925" cy="521701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E8D6889-88F8-92D2-9C95-1C7BAD915C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8629" y="933450"/>
            <a:ext cx="4853008" cy="521701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987618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B9936-F7CB-0C7A-4B61-83C785C1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718D271D-B581-15DC-21EF-CEF1CD0DFF4D}"/>
              </a:ext>
            </a:extLst>
          </p:cNvPr>
          <p:cNvCxnSpPr/>
          <p:nvPr/>
        </p:nvCxnSpPr>
        <p:spPr>
          <a:xfrm>
            <a:off x="1362333" y="3112251"/>
            <a:ext cx="616308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 descr="logo">
            <a:extLst>
              <a:ext uri="{FF2B5EF4-FFF2-40B4-BE49-F238E27FC236}">
                <a16:creationId xmlns:a16="http://schemas.microsoft.com/office/drawing/2014/main" id="{EFBC4F07-0056-37CF-8713-E1BB7AC455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7165" y="294005"/>
            <a:ext cx="1524635" cy="639445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E3228D8C-6834-54BE-1507-88B646A5BE98}"/>
              </a:ext>
            </a:extLst>
          </p:cNvPr>
          <p:cNvSpPr/>
          <p:nvPr/>
        </p:nvSpPr>
        <p:spPr>
          <a:xfrm>
            <a:off x="0" y="96452"/>
            <a:ext cx="6955750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4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结果处理</a:t>
            </a:r>
            <a:r>
              <a:rPr lang="en-US" altLang="zh-CN" sz="4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——</a:t>
            </a:r>
            <a:r>
              <a:rPr lang="zh-CN" altLang="en-US" sz="4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显示最终结果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96B8307-5D0A-D50B-88B1-E5DAB4A2F8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020" y="978652"/>
            <a:ext cx="5274310" cy="12192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F9488E6E-6FA7-FBCB-91AB-889C1195AD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020" y="2387847"/>
            <a:ext cx="5274310" cy="360426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CFA4802-7A33-137C-03EA-C33EA40F44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46905" y="2387847"/>
            <a:ext cx="5686037" cy="360426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F004483-6090-7F91-00E1-53928B1AF14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01552" y="978652"/>
            <a:ext cx="6060248" cy="12192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231960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DA953-B8B3-CA52-975C-19F076457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7AA7B381-029A-0B68-8730-EA414FFE19BF}"/>
              </a:ext>
            </a:extLst>
          </p:cNvPr>
          <p:cNvSpPr/>
          <p:nvPr/>
        </p:nvSpPr>
        <p:spPr>
          <a:xfrm>
            <a:off x="7988709" y="5737122"/>
            <a:ext cx="3957485" cy="825909"/>
          </a:xfrm>
          <a:prstGeom prst="rect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DC1A8FB-E6AB-52C2-1DB3-C9530428FD59}"/>
              </a:ext>
            </a:extLst>
          </p:cNvPr>
          <p:cNvSpPr/>
          <p:nvPr/>
        </p:nvSpPr>
        <p:spPr>
          <a:xfrm>
            <a:off x="245804" y="294968"/>
            <a:ext cx="3957485" cy="825909"/>
          </a:xfrm>
          <a:prstGeom prst="rect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6892E077-F09F-D29D-B06B-5FFE733651FA}"/>
              </a:ext>
            </a:extLst>
          </p:cNvPr>
          <p:cNvSpPr/>
          <p:nvPr/>
        </p:nvSpPr>
        <p:spPr>
          <a:xfrm>
            <a:off x="403122" y="449825"/>
            <a:ext cx="11385755" cy="5958349"/>
          </a:xfrm>
          <a:prstGeom prst="roundRect">
            <a:avLst>
              <a:gd name="adj" fmla="val 1568"/>
            </a:avLst>
          </a:prstGeom>
          <a:solidFill>
            <a:schemeClr val="bg1"/>
          </a:solidFill>
          <a:ln>
            <a:noFill/>
          </a:ln>
          <a:effectLst>
            <a:glow rad="228600">
              <a:schemeClr val="tx1">
                <a:alpha val="3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C2BFFC4-BFA1-481C-E898-56CFA1C9924C}"/>
              </a:ext>
            </a:extLst>
          </p:cNvPr>
          <p:cNvSpPr txBox="1"/>
          <p:nvPr/>
        </p:nvSpPr>
        <p:spPr>
          <a:xfrm>
            <a:off x="4221610" y="3013500"/>
            <a:ext cx="37487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4800" dirty="0">
                <a:solidFill>
                  <a:srgbClr val="1C4885"/>
                </a:solidFill>
                <a:cs typeface="+mn-ea"/>
                <a:sym typeface="+mn-lt"/>
              </a:rPr>
              <a:t>3.</a:t>
            </a:r>
            <a:r>
              <a:rPr lang="zh-CN" altLang="en-US" sz="4800" dirty="0">
                <a:solidFill>
                  <a:srgbClr val="1C4885"/>
                </a:solidFill>
                <a:cs typeface="+mn-ea"/>
                <a:sym typeface="+mn-lt"/>
              </a:rPr>
              <a:t>问题处理</a:t>
            </a:r>
          </a:p>
        </p:txBody>
      </p:sp>
    </p:spTree>
    <p:extLst>
      <p:ext uri="{BB962C8B-B14F-4D97-AF65-F5344CB8AC3E}">
        <p14:creationId xmlns:p14="http://schemas.microsoft.com/office/powerpoint/2010/main" val="52783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FFE74-0E55-E6B1-5E2D-AE611AB81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FBB3B8B7-D81F-C91B-927A-2DEB03B2C8B5}"/>
              </a:ext>
            </a:extLst>
          </p:cNvPr>
          <p:cNvCxnSpPr/>
          <p:nvPr/>
        </p:nvCxnSpPr>
        <p:spPr>
          <a:xfrm>
            <a:off x="1362333" y="3112251"/>
            <a:ext cx="616308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 descr="logo">
            <a:extLst>
              <a:ext uri="{FF2B5EF4-FFF2-40B4-BE49-F238E27FC236}">
                <a16:creationId xmlns:a16="http://schemas.microsoft.com/office/drawing/2014/main" id="{E92DCF5E-5819-CFE9-9314-9524017DC0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7165" y="294005"/>
            <a:ext cx="1524635" cy="639445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DF7198C1-CEE7-6787-FB21-A30871C6407F}"/>
              </a:ext>
            </a:extLst>
          </p:cNvPr>
          <p:cNvSpPr/>
          <p:nvPr/>
        </p:nvSpPr>
        <p:spPr>
          <a:xfrm>
            <a:off x="141488" y="70473"/>
            <a:ext cx="2441694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4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问题处理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A3F990E-AFEE-FC06-AD63-43CAA37907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488" y="933450"/>
            <a:ext cx="8643302" cy="468482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CFE96BB7-579A-8032-02E5-4FED25AE3883}"/>
              </a:ext>
            </a:extLst>
          </p:cNvPr>
          <p:cNvSpPr txBox="1"/>
          <p:nvPr/>
        </p:nvSpPr>
        <p:spPr>
          <a:xfrm>
            <a:off x="8877895" y="1554036"/>
            <a:ext cx="3172617" cy="332398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跑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flink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作业时发现空闲节点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TaskManager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节点只有一个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原因：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k8s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对于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JobManager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和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TaskManager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随机分配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该节点被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JobManager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调度占用，不进行计算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Master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节点被自动打上污点，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TM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不会分配到该节点；或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master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节点资源不足，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TM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的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pod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一直处于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pending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状态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01708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53BB5-B011-ACC5-4183-9DD8FB116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DD694B52-DCE8-3125-51F7-2F941D81EDB7}"/>
              </a:ext>
            </a:extLst>
          </p:cNvPr>
          <p:cNvCxnSpPr/>
          <p:nvPr/>
        </p:nvCxnSpPr>
        <p:spPr>
          <a:xfrm>
            <a:off x="1362333" y="3112251"/>
            <a:ext cx="616308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 descr="logo">
            <a:extLst>
              <a:ext uri="{FF2B5EF4-FFF2-40B4-BE49-F238E27FC236}">
                <a16:creationId xmlns:a16="http://schemas.microsoft.com/office/drawing/2014/main" id="{DE0A1C22-45E7-83DF-4884-9B6D2713BB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7165" y="294005"/>
            <a:ext cx="1524635" cy="639445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86BCA69E-9F12-11BE-DB91-7DAD18959194}"/>
              </a:ext>
            </a:extLst>
          </p:cNvPr>
          <p:cNvSpPr/>
          <p:nvPr/>
        </p:nvSpPr>
        <p:spPr>
          <a:xfrm>
            <a:off x="141491" y="70473"/>
            <a:ext cx="2441694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4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解决办法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E96C7F4-7F2C-B3E0-256D-A5696A39A2C2}"/>
              </a:ext>
            </a:extLst>
          </p:cNvPr>
          <p:cNvSpPr txBox="1"/>
          <p:nvPr/>
        </p:nvSpPr>
        <p:spPr>
          <a:xfrm>
            <a:off x="5442851" y="1402200"/>
            <a:ext cx="6818999" cy="267765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移除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master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节点污点限制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kubectl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taint node vm-0-9-ubuntu node-role.kubernetes.io/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master:NoSchedule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-</a:t>
            </a: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若想强制选择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pod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运行的节点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可以在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yaml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文件中添加节点选择标签，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只有当节点标签为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taskmanager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时才分配为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TM</a:t>
            </a: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为节点打上标签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kubectl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label nodes vm-0-14-ubuntu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flink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-role=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taskmanager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显示节点标签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kubectl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get nodes --show-labels</a:t>
            </a: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BCA1DDAC-1D60-552F-ADEE-D6A2628926DE}"/>
              </a:ext>
            </a:extLst>
          </p:cNvPr>
          <p:cNvGrpSpPr/>
          <p:nvPr/>
        </p:nvGrpSpPr>
        <p:grpSpPr>
          <a:xfrm>
            <a:off x="464174" y="1018883"/>
            <a:ext cx="3485526" cy="3254667"/>
            <a:chOff x="489574" y="1164933"/>
            <a:chExt cx="4597118" cy="4194141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EE563BF7-3E06-0680-6954-E8AD754A91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9574" y="1164933"/>
              <a:ext cx="4597118" cy="4194141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7707629C-0D4A-F248-8D8E-F9F3822BF9F5}"/>
                </a:ext>
              </a:extLst>
            </p:cNvPr>
            <p:cNvSpPr/>
            <p:nvPr/>
          </p:nvSpPr>
          <p:spPr>
            <a:xfrm>
              <a:off x="1244600" y="2222501"/>
              <a:ext cx="1866900" cy="34925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2" name="图片 11">
            <a:extLst>
              <a:ext uri="{FF2B5EF4-FFF2-40B4-BE49-F238E27FC236}">
                <a16:creationId xmlns:a16="http://schemas.microsoft.com/office/drawing/2014/main" id="{0980BD5B-4BE7-4F92-3192-A8B58D59EC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174" y="4435198"/>
            <a:ext cx="10740022" cy="109391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E4BCF606-5D7A-309A-2F96-92C9A11BE44A}"/>
              </a:ext>
            </a:extLst>
          </p:cNvPr>
          <p:cNvSpPr/>
          <p:nvPr/>
        </p:nvSpPr>
        <p:spPr>
          <a:xfrm>
            <a:off x="7215182" y="4646259"/>
            <a:ext cx="1427167" cy="7448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4660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0F015-00DB-ED0F-CE37-CDEBF9F33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C49F7938-13E4-E2D6-4275-36D523DF4E04}"/>
              </a:ext>
            </a:extLst>
          </p:cNvPr>
          <p:cNvCxnSpPr/>
          <p:nvPr/>
        </p:nvCxnSpPr>
        <p:spPr>
          <a:xfrm>
            <a:off x="1362333" y="3112251"/>
            <a:ext cx="616308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 descr="logo">
            <a:extLst>
              <a:ext uri="{FF2B5EF4-FFF2-40B4-BE49-F238E27FC236}">
                <a16:creationId xmlns:a16="http://schemas.microsoft.com/office/drawing/2014/main" id="{268F5B76-920B-185F-593F-6EF696B906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7165" y="294005"/>
            <a:ext cx="1524635" cy="639445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88931C5A-E140-2637-D04B-67E100BE4601}"/>
              </a:ext>
            </a:extLst>
          </p:cNvPr>
          <p:cNvSpPr/>
          <p:nvPr/>
        </p:nvSpPr>
        <p:spPr>
          <a:xfrm>
            <a:off x="3509905" y="254655"/>
            <a:ext cx="5172185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28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让</a:t>
            </a:r>
            <a:r>
              <a:rPr lang="en-US" altLang="zh-CN" sz="2800" b="1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TaskManager</a:t>
            </a:r>
            <a:r>
              <a:rPr lang="zh-CN" altLang="en-US" sz="28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跑在</a:t>
            </a:r>
            <a:r>
              <a:rPr lang="en-US" altLang="zh-CN" sz="28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3</a:t>
            </a:r>
            <a:r>
              <a:rPr lang="zh-CN" altLang="en-US" sz="28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个节点上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C43BAA4-DA24-3E53-A1E8-B5047599F639}"/>
              </a:ext>
            </a:extLst>
          </p:cNvPr>
          <p:cNvGrpSpPr/>
          <p:nvPr/>
        </p:nvGrpSpPr>
        <p:grpSpPr>
          <a:xfrm>
            <a:off x="686730" y="933450"/>
            <a:ext cx="10818537" cy="1697153"/>
            <a:chOff x="1043263" y="1318714"/>
            <a:chExt cx="10818537" cy="1697153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D19325F0-9390-17CA-A9CA-33ECDED4E7E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43264" y="1318714"/>
              <a:ext cx="10818536" cy="1697153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F56E4D9F-8168-02C1-D213-CFDA7E4279F8}"/>
                </a:ext>
              </a:extLst>
            </p:cNvPr>
            <p:cNvSpPr/>
            <p:nvPr/>
          </p:nvSpPr>
          <p:spPr>
            <a:xfrm>
              <a:off x="7939083" y="1693509"/>
              <a:ext cx="1268418" cy="76394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066ECE89-1026-B30E-4690-8926A2D76ED8}"/>
                </a:ext>
              </a:extLst>
            </p:cNvPr>
            <p:cNvSpPr/>
            <p:nvPr/>
          </p:nvSpPr>
          <p:spPr>
            <a:xfrm>
              <a:off x="1043263" y="2004659"/>
              <a:ext cx="8164237" cy="45279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4" name="图片 13">
            <a:extLst>
              <a:ext uri="{FF2B5EF4-FFF2-40B4-BE49-F238E27FC236}">
                <a16:creationId xmlns:a16="http://schemas.microsoft.com/office/drawing/2014/main" id="{686B6E46-1AA8-65A2-AF70-4B604A896A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35740" y="2758131"/>
            <a:ext cx="6720517" cy="359004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200724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9984658" y="4866967"/>
            <a:ext cx="1961536" cy="1696064"/>
          </a:xfrm>
          <a:prstGeom prst="rect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45805" y="294968"/>
            <a:ext cx="1961536" cy="1696064"/>
          </a:xfrm>
          <a:prstGeom prst="rect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45805" y="4866967"/>
            <a:ext cx="1961536" cy="1696064"/>
          </a:xfrm>
          <a:prstGeom prst="rect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9984658" y="294968"/>
            <a:ext cx="1961536" cy="1696064"/>
          </a:xfrm>
          <a:prstGeom prst="rect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403122" y="405580"/>
            <a:ext cx="11385755" cy="5958349"/>
          </a:xfrm>
          <a:prstGeom prst="roundRect">
            <a:avLst>
              <a:gd name="adj" fmla="val 1568"/>
            </a:avLst>
          </a:prstGeom>
          <a:solidFill>
            <a:schemeClr val="bg1"/>
          </a:solidFill>
          <a:ln>
            <a:noFill/>
          </a:ln>
          <a:effectLst>
            <a:glow rad="228600">
              <a:schemeClr val="tx1">
                <a:alpha val="3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718926" y="2593352"/>
            <a:ext cx="6754146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b="1" dirty="0">
                <a:solidFill>
                  <a:srgbClr val="1C4885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THANK YOU!</a:t>
            </a:r>
            <a:endParaRPr lang="zh-CN" altLang="en-US" sz="4800" b="1" dirty="0">
              <a:solidFill>
                <a:srgbClr val="1C4885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cxnSp>
        <p:nvCxnSpPr>
          <p:cNvPr id="11" name="直接连接符 10"/>
          <p:cNvCxnSpPr>
            <a:cxnSpLocks/>
          </p:cNvCxnSpPr>
          <p:nvPr/>
        </p:nvCxnSpPr>
        <p:spPr>
          <a:xfrm>
            <a:off x="4211036" y="3423297"/>
            <a:ext cx="3785361" cy="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5B4B6D77-1B4F-C26B-FB81-179A4BD46CB0}"/>
              </a:ext>
            </a:extLst>
          </p:cNvPr>
          <p:cNvSpPr txBox="1"/>
          <p:nvPr/>
        </p:nvSpPr>
        <p:spPr>
          <a:xfrm>
            <a:off x="4574832" y="4158225"/>
            <a:ext cx="30423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汇报人：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22121630 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汪江豪</a:t>
            </a:r>
            <a:endParaRPr lang="en-US" altLang="zh-CN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  <a:p>
            <a:pPr algn="r"/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22120721 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阮金桐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蓝色简洁毕业答辩PPT模板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js3og5wl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</TotalTime>
  <Words>870</Words>
  <Application>Microsoft Office PowerPoint</Application>
  <PresentationFormat>宽屏</PresentationFormat>
  <Paragraphs>176</Paragraphs>
  <Slides>25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0" baseType="lpstr">
      <vt:lpstr>等线</vt:lpstr>
      <vt:lpstr>微软雅黑</vt:lpstr>
      <vt:lpstr>Arial</vt:lpstr>
      <vt:lpstr>Calibri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</dc:title>
  <dc:subject>PPT</dc:subject>
  <dc:creator>administrator</dc:creator>
  <cp:keywords>PPT</cp:keywords>
  <dc:description>PPT</dc:description>
  <cp:lastModifiedBy>江豪 汪</cp:lastModifiedBy>
  <cp:revision>106</cp:revision>
  <dcterms:created xsi:type="dcterms:W3CDTF">2018-02-27T12:12:00Z</dcterms:created>
  <dcterms:modified xsi:type="dcterms:W3CDTF">2025-05-19T12:55:44Z</dcterms:modified>
  <cp:category>PPT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137ED8C6ECBD4E5EAA4D4692CD005EA8</vt:lpwstr>
  </property>
  <property fmtid="{D5CDD505-2E9C-101B-9397-08002B2CF9AE}" pid="3" name="KSOProductBuildVer">
    <vt:lpwstr>2052-11.1.0.11294</vt:lpwstr>
  </property>
</Properties>
</file>